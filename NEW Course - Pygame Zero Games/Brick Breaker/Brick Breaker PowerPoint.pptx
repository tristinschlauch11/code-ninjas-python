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7"/>
  </p:notesMasterIdLst>
  <p:handoutMasterIdLst>
    <p:handoutMasterId r:id="rId58"/>
  </p:handoutMasterIdLst>
  <p:sldIdLst>
    <p:sldId id="25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6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>
      <p:cViewPr varScale="1">
        <p:scale>
          <a:sx n="47" d="100"/>
          <a:sy n="47" d="100"/>
        </p:scale>
        <p:origin x="82" y="82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3/3/2026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3/3/2026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3/3/2026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Brick Breaker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Code Ninjas Crestwood</a:t>
            </a:r>
          </a:p>
          <a:p>
            <a:endParaRPr lang="en-US" dirty="0"/>
          </a:p>
          <a:p>
            <a:r>
              <a:rPr lang="en-US" dirty="0"/>
              <a:t>Tristin </a:t>
            </a:r>
            <a:r>
              <a:rPr lang="en-US" dirty="0" err="1"/>
              <a:t>schlauch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Hello, World!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Welcome everyone and thank you for joining! I hope you’re excited to develop games in Python! Over the next 3 weeks, we’ll learn about: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The basics of </a:t>
            </a:r>
            <a:r>
              <a:rPr lang="en-US" sz="2400" dirty="0" err="1"/>
              <a:t>Pygame</a:t>
            </a:r>
            <a:r>
              <a:rPr lang="en-US" sz="2400" dirty="0"/>
              <a:t> Zero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How to use variables for sprites and other </a:t>
            </a:r>
            <a:r>
              <a:rPr lang="en-US" sz="2400" dirty="0">
                <a:latin typeface="Consolas" panose="020B0609020204030204" pitchFamily="49" charset="0"/>
              </a:rPr>
              <a:t>global</a:t>
            </a:r>
            <a:r>
              <a:rPr lang="en-US" sz="2400" dirty="0">
                <a:latin typeface="+mj-lt"/>
              </a:rPr>
              <a:t> game</a:t>
            </a:r>
            <a:r>
              <a:rPr lang="en-US" sz="2400" dirty="0"/>
              <a:t> attributes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/>
              <a:t>Boolean logic, </a:t>
            </a:r>
            <a:r>
              <a:rPr lang="en-US" sz="2400" dirty="0">
                <a:latin typeface="Consolas" panose="020B0609020204030204" pitchFamily="49" charset="0"/>
              </a:rPr>
              <a:t>if</a:t>
            </a:r>
            <a:r>
              <a:rPr lang="en-US" sz="2400" dirty="0">
                <a:latin typeface="+mj-lt"/>
              </a:rPr>
              <a:t> statements, as well as </a:t>
            </a:r>
            <a:r>
              <a:rPr lang="en-US" sz="2400" dirty="0">
                <a:latin typeface="Consolas" panose="020B0609020204030204" pitchFamily="49" charset="0"/>
              </a:rPr>
              <a:t>and,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or,</a:t>
            </a:r>
            <a:r>
              <a:rPr lang="en-US" sz="2400" dirty="0">
                <a:latin typeface="+mj-lt"/>
              </a:rPr>
              <a:t> and </a:t>
            </a:r>
            <a:r>
              <a:rPr lang="en-US" sz="2400" dirty="0">
                <a:latin typeface="Consolas" panose="020B0609020204030204" pitchFamily="49" charset="0"/>
              </a:rPr>
              <a:t>not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latin typeface="+mj-lt"/>
              </a:rPr>
              <a:t>How to use for-loops to create an array of bricks for us to destroy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latin typeface="+mj-lt"/>
              </a:rPr>
              <a:t>How to use lists so we can interact with multiple bricks and power-ups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latin typeface="+mj-lt"/>
              </a:rPr>
              <a:t>How to randomly spawn different power-ups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latin typeface="+mj-lt"/>
              </a:rPr>
              <a:t>How to use timed functions to create different power-up effects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latin typeface="+mj-lt"/>
              </a:rPr>
              <a:t>How to use comments to organize our code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A408-6B5F-792E-FACF-C6B13DF98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b="0" i="0" u="none" strike="noStrike" kern="1200" cap="all" spc="200" normalizeH="0" baseline="0" noProof="0" dirty="0" err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Pygame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Basics</a:t>
            </a:r>
            <a:endParaRPr lang="en-CA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6EDBC-8DF4-A7A3-B493-A7A0795AFFBC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/>
          <a:lstStyle/>
          <a:p>
            <a:r>
              <a:rPr lang="en-CA" dirty="0"/>
              <a:t>Pygame Zero runs a visual, graphical game one frame at a time</a:t>
            </a:r>
          </a:p>
          <a:p>
            <a:r>
              <a:rPr lang="en-CA" dirty="0"/>
              <a:t>On each frame, the game will:</a:t>
            </a:r>
          </a:p>
          <a:p>
            <a:pPr lvl="1"/>
            <a:r>
              <a:rPr lang="en-CA" dirty="0"/>
              <a:t>Handle all inputs (like keyboard and mouse buttons)</a:t>
            </a:r>
          </a:p>
          <a:p>
            <a:pPr lvl="1"/>
            <a:r>
              <a:rPr lang="en-CA" dirty="0"/>
              <a:t>Draw our game</a:t>
            </a:r>
          </a:p>
          <a:p>
            <a:pPr lvl="1"/>
            <a:r>
              <a:rPr lang="en-CA" dirty="0"/>
              <a:t>Update our game</a:t>
            </a:r>
          </a:p>
          <a:p>
            <a:r>
              <a:rPr lang="en-CA" dirty="0"/>
              <a:t>This repeats until the game ends</a:t>
            </a:r>
          </a:p>
          <a:p>
            <a:pPr lvl="1"/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586809-CD93-571E-56A8-BE5E2DADC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72" y="2184099"/>
            <a:ext cx="5904656" cy="12982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5767A-947F-8BA1-9FA9-B04770A64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72" y="4024784"/>
            <a:ext cx="5909849" cy="19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4A41-BDE7-4119-0EA1-7C5E2C10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59D6-F2D8-2FD5-C49D-6D8C4792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Creating the Window With </a:t>
            </a:r>
            <a:r>
              <a:rPr kumimoji="0" lang="en-US" b="1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Variables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61F3C-5881-5C36-A64A-6ABA36939DAF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/>
          <a:lstStyle/>
          <a:p>
            <a:r>
              <a:rPr lang="en-CA" b="1" dirty="0"/>
              <a:t>Variables</a:t>
            </a:r>
            <a:r>
              <a:rPr lang="en-CA" dirty="0"/>
              <a:t> are used to store information so that we can use them later</a:t>
            </a:r>
          </a:p>
          <a:p>
            <a:r>
              <a:rPr lang="en-CA" dirty="0"/>
              <a:t>Basically, a variable is a </a:t>
            </a:r>
            <a:r>
              <a:rPr lang="en-CA" i="1" dirty="0"/>
              <a:t>name</a:t>
            </a:r>
            <a:r>
              <a:rPr lang="en-CA" dirty="0"/>
              <a:t> that we give to a piece of information we want to remember</a:t>
            </a:r>
          </a:p>
          <a:p>
            <a:r>
              <a:rPr lang="en-CA" dirty="0"/>
              <a:t>Let’s set our game window HEIGHT to 600 and WIDTH to 800!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F43F5-B0B6-D77E-6F3D-52E27DFC4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42" y="2420888"/>
            <a:ext cx="5816533" cy="1223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85D924-B10B-E70F-6EA4-44D660193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42" y="4941168"/>
            <a:ext cx="6093940" cy="80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6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82A2-EAEC-37EB-B5BC-534758E6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BA50-E176-9EBA-6A15-1CF56926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Creating the Paddle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E32E-1449-2584-9105-1E150DC6833D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/>
          <a:lstStyle/>
          <a:p>
            <a:r>
              <a:rPr lang="en-CA" dirty="0"/>
              <a:t>Let’s make our paddle! Click on the </a:t>
            </a:r>
            <a:r>
              <a:rPr lang="en-CA" b="1" dirty="0"/>
              <a:t>Images</a:t>
            </a:r>
            <a:r>
              <a:rPr lang="en-CA" dirty="0"/>
              <a:t> button on your editor to see the images we’ll use. </a:t>
            </a:r>
          </a:p>
          <a:p>
            <a:r>
              <a:rPr lang="en-CA" dirty="0"/>
              <a:t>To create our paddle, we need to make an </a:t>
            </a:r>
            <a:r>
              <a:rPr lang="en-CA" b="1" dirty="0"/>
              <a:t>Actor</a:t>
            </a:r>
            <a:r>
              <a:rPr lang="en-CA" dirty="0"/>
              <a:t> using the image name that we want to use and save it to a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535226-0775-537D-6FE0-62633F98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57" y="1844824"/>
            <a:ext cx="5548855" cy="864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0C6CC7-CFBC-5BE5-7183-E37577B6E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086" y="3944265"/>
            <a:ext cx="4629796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78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DCE3-E327-A4F4-1D49-BA36AD2B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0A2A-A9B5-DEFF-7F85-B793A728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Repositioning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Paddle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A9A8-248E-FADA-5462-D05B0D4AA5EC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/>
          <a:lstStyle/>
          <a:p>
            <a:r>
              <a:rPr lang="en-CA" dirty="0"/>
              <a:t>Now that we’ve created the paddle, let’s reposition it!</a:t>
            </a:r>
          </a:p>
          <a:p>
            <a:r>
              <a:rPr lang="en-CA" dirty="0"/>
              <a:t>To do this, we’ll set the paddle’s </a:t>
            </a:r>
            <a:r>
              <a:rPr lang="en-CA" b="1" dirty="0"/>
              <a:t>center</a:t>
            </a:r>
            <a:r>
              <a:rPr lang="en-CA" dirty="0"/>
              <a:t> attribute by using “</a:t>
            </a:r>
            <a:r>
              <a:rPr lang="en-CA" dirty="0" err="1"/>
              <a:t>paddle.center</a:t>
            </a:r>
            <a:r>
              <a:rPr lang="en-CA" dirty="0"/>
              <a:t>”</a:t>
            </a:r>
          </a:p>
          <a:p>
            <a:r>
              <a:rPr lang="en-CA" dirty="0"/>
              <a:t>Then we’ll use brackets to set the paddle’s </a:t>
            </a:r>
            <a:r>
              <a:rPr lang="en-CA" b="1" dirty="0"/>
              <a:t>(x, y)</a:t>
            </a:r>
            <a:r>
              <a:rPr lang="en-CA" dirty="0"/>
              <a:t> positions</a:t>
            </a:r>
          </a:p>
          <a:p>
            <a:r>
              <a:rPr lang="en-CA" dirty="0"/>
              <a:t>Press </a:t>
            </a:r>
            <a:r>
              <a:rPr lang="en-CA" b="1" dirty="0"/>
              <a:t>Play</a:t>
            </a:r>
            <a:r>
              <a:rPr lang="en-CA" dirty="0"/>
              <a:t> to test your project!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006B0-6744-F2DD-0F16-279EBE3A4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31" b="3091"/>
          <a:stretch>
            <a:fillRect/>
          </a:stretch>
        </p:blipFill>
        <p:spPr>
          <a:xfrm>
            <a:off x="568843" y="1916832"/>
            <a:ext cx="5447957" cy="720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80691C-64EA-B534-CB4F-F35ECFD6B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992" y="2913149"/>
            <a:ext cx="4643944" cy="367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292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FE0-0B01-AA7A-B540-83714314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2F9F-A66D-015D-DD93-245F5521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Paddle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1A1D9-6288-4EAE-ED2F-5997FCE77B96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/>
          <a:lstStyle/>
          <a:p>
            <a:r>
              <a:rPr lang="en-CA" dirty="0"/>
              <a:t>Oh no! There’s nothing on the screen! That’s because we never drew the paddle on the screen.</a:t>
            </a:r>
          </a:p>
          <a:p>
            <a:r>
              <a:rPr lang="en-CA" dirty="0"/>
              <a:t>Go to the draw function on your editor, erase </a:t>
            </a:r>
            <a:r>
              <a:rPr lang="en-CA" dirty="0">
                <a:latin typeface="Consolas" panose="020B0609020204030204" pitchFamily="49" charset="0"/>
              </a:rPr>
              <a:t>pass</a:t>
            </a:r>
            <a:r>
              <a:rPr lang="en-CA" dirty="0"/>
              <a:t> and type “</a:t>
            </a:r>
            <a:r>
              <a:rPr lang="en-CA" dirty="0" err="1">
                <a:latin typeface="Consolas" panose="020B0609020204030204" pitchFamily="49" charset="0"/>
              </a:rPr>
              <a:t>paddle.draw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/>
              <a:t>”</a:t>
            </a:r>
          </a:p>
          <a:p>
            <a:r>
              <a:rPr lang="en-CA" dirty="0"/>
              <a:t>Now, press Play to see your paddle!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CB4F7-8FEF-13AA-3F85-9FE1AD22D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63" y="1916832"/>
            <a:ext cx="5191850" cy="714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87391-482E-CD4E-7E41-DD5079FE8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42" y="3075292"/>
            <a:ext cx="4511598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54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F9B0B-2290-8C75-3924-EF2C38F9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08D8-ABEF-8633-0AB4-352F5D9D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Booleans</a:t>
            </a: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and </a:t>
            </a:r>
            <a:r>
              <a:rPr lang="en-US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If</a:t>
            </a: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statements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EC328-873E-CC7D-CD14-B38CAB7A6DF9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/>
          <a:lstStyle/>
          <a:p>
            <a:r>
              <a:rPr lang="en-CA" dirty="0"/>
              <a:t>Next, we’re going to learn how to move the paddle, but first we need to learn about </a:t>
            </a:r>
            <a:r>
              <a:rPr lang="en-CA" b="1" dirty="0"/>
              <a:t>Booleans!</a:t>
            </a:r>
          </a:p>
          <a:p>
            <a:r>
              <a:rPr lang="en-CA" dirty="0"/>
              <a:t>Booleans are statements that are either </a:t>
            </a:r>
            <a:r>
              <a:rPr lang="en-CA" i="1" dirty="0"/>
              <a:t>True</a:t>
            </a:r>
            <a:r>
              <a:rPr lang="en-CA" dirty="0"/>
              <a:t> or </a:t>
            </a:r>
            <a:r>
              <a:rPr lang="en-CA" i="1" dirty="0"/>
              <a:t>False</a:t>
            </a:r>
            <a:endParaRPr lang="en-CA" dirty="0"/>
          </a:p>
          <a:p>
            <a:r>
              <a:rPr lang="en-CA" dirty="0"/>
              <a:t>Usually, you use them with an </a:t>
            </a:r>
            <a:r>
              <a:rPr lang="en-CA" i="1" dirty="0"/>
              <a:t>if</a:t>
            </a:r>
            <a:r>
              <a:rPr lang="en-CA" dirty="0"/>
              <a:t>-statement to do certain things if a condition is True!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2ABF8-B77F-FB07-D336-5DF57465D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40" y="3433000"/>
            <a:ext cx="5442737" cy="2356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8F60EC-44C1-CD34-45F6-BEDE52443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628" y="1736532"/>
            <a:ext cx="4608512" cy="136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86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4407-E9F0-DCDE-D4EE-C5FFBAF3A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C17F-2D82-0F5B-7293-239183772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Moving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Paddle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0080E-E31C-7109-4222-6706325F833F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>
            <a:normAutofit/>
          </a:bodyPr>
          <a:lstStyle/>
          <a:p>
            <a:r>
              <a:rPr lang="en-CA" dirty="0"/>
              <a:t>Moving the paddle is a game update, so this code needs to go in the update function!</a:t>
            </a:r>
          </a:p>
          <a:p>
            <a:r>
              <a:rPr lang="en-CA" dirty="0"/>
              <a:t>Code so that if our player presses the “a” button, the paddle moves left by updating the paddle’s </a:t>
            </a:r>
            <a:r>
              <a:rPr lang="en-CA" b="1" dirty="0"/>
              <a:t>x</a:t>
            </a:r>
            <a:r>
              <a:rPr lang="en-CA" dirty="0"/>
              <a:t> attribute</a:t>
            </a:r>
          </a:p>
          <a:p>
            <a:r>
              <a:rPr lang="en-CA" dirty="0"/>
              <a:t>Also code so that if they press “d”, they move right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A0A3FF-D276-F986-6BCF-188C8F97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45" y="2096852"/>
            <a:ext cx="5636467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30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9A700E-2CB3-7C5A-2888-BF2CDFD0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Woah! Our paddle is all over the screen! How can we fix that???</a:t>
            </a:r>
          </a:p>
        </p:txBody>
      </p:sp>
    </p:spTree>
    <p:extLst>
      <p:ext uri="{BB962C8B-B14F-4D97-AF65-F5344CB8AC3E}">
        <p14:creationId xmlns:p14="http://schemas.microsoft.com/office/powerpoint/2010/main" val="79259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1D3D-D7D2-8EA6-C9E4-CA15C2B2C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497C7-8B63-B79A-EF39-0E314E787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a Background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7716B-9132-FB46-6E30-52CB947B1F6F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053853" y="1628800"/>
            <a:ext cx="10537510" cy="4465320"/>
          </a:xfrm>
        </p:spPr>
        <p:txBody>
          <a:bodyPr>
            <a:normAutofit/>
          </a:bodyPr>
          <a:lstStyle/>
          <a:p>
            <a:r>
              <a:rPr lang="en-CA" dirty="0"/>
              <a:t>Remember that Pygame Zero is frame-by-frame. So, on EVERY SINGLE FRAME, we need to reset the screen</a:t>
            </a:r>
          </a:p>
          <a:p>
            <a:r>
              <a:rPr lang="en-CA" dirty="0"/>
              <a:t>Make sure that we arrange the stuff in the </a:t>
            </a:r>
            <a:r>
              <a:rPr lang="en-CA" b="1" dirty="0"/>
              <a:t>draw</a:t>
            </a:r>
            <a:r>
              <a:rPr lang="en-CA" dirty="0"/>
              <a:t> function in the order that we want it drawn!</a:t>
            </a:r>
          </a:p>
          <a:p>
            <a:r>
              <a:rPr lang="en-CA" dirty="0"/>
              <a:t>We can fill the screen by using </a:t>
            </a:r>
            <a:r>
              <a:rPr lang="en-CA" dirty="0" err="1">
                <a:latin typeface="Consolas" panose="020B0609020204030204" pitchFamily="49" charset="0"/>
              </a:rPr>
              <a:t>screen.fill</a:t>
            </a:r>
            <a:r>
              <a:rPr lang="en-CA" dirty="0">
                <a:latin typeface="Consolas" panose="020B0609020204030204" pitchFamily="49" charset="0"/>
              </a:rPr>
              <a:t>((red, blue, green))</a:t>
            </a:r>
          </a:p>
          <a:p>
            <a:pPr lvl="1"/>
            <a:r>
              <a:rPr lang="en-CA" dirty="0">
                <a:latin typeface="Consolas" panose="020B0609020204030204" pitchFamily="49" charset="0"/>
              </a:rPr>
              <a:t>red, blue,</a:t>
            </a:r>
            <a:r>
              <a:rPr lang="en-CA" dirty="0">
                <a:latin typeface="+mj-lt"/>
              </a:rPr>
              <a:t> and </a:t>
            </a:r>
            <a:r>
              <a:rPr lang="en-CA" dirty="0">
                <a:latin typeface="Consolas" panose="020B0609020204030204" pitchFamily="49" charset="0"/>
              </a:rPr>
              <a:t>green</a:t>
            </a:r>
            <a:r>
              <a:rPr lang="en-CA" dirty="0">
                <a:latin typeface="+mj-lt"/>
              </a:rPr>
              <a:t> can be any number from 0-255</a:t>
            </a:r>
          </a:p>
          <a:p>
            <a:r>
              <a:rPr lang="en-CA" dirty="0">
                <a:latin typeface="+mj-lt"/>
              </a:rPr>
              <a:t>We can also make some other rectangles for our game’s boundaries</a:t>
            </a:r>
          </a:p>
        </p:txBody>
      </p:sp>
    </p:spTree>
    <p:extLst>
      <p:ext uri="{BB962C8B-B14F-4D97-AF65-F5344CB8AC3E}">
        <p14:creationId xmlns:p14="http://schemas.microsoft.com/office/powerpoint/2010/main" val="3194138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E3D8-E91E-FA4D-F1DB-284AE998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0FF4-1F49-9C6A-0F7E-97C44197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a Background</a:t>
            </a:r>
            <a:endParaRPr lang="en-CA" sz="4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FFA0D3-D188-3FF3-9FBF-1608C65F5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70" y="2270436"/>
            <a:ext cx="11415883" cy="23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51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C2D45-58F6-F136-ACC0-112693E6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E1A9-26C5-1088-2B7F-EA35BEAE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0"/>
            <a:ext cx="10360501" cy="1223963"/>
          </a:xfrm>
        </p:spPr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Moving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Paddle – Part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C84BD-CF90-E03D-B224-A15B686E57D6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960830" y="1354162"/>
            <a:ext cx="10609518" cy="4954563"/>
          </a:xfrm>
        </p:spPr>
        <p:txBody>
          <a:bodyPr>
            <a:normAutofit/>
          </a:bodyPr>
          <a:lstStyle/>
          <a:p>
            <a:r>
              <a:rPr lang="en-CA" dirty="0"/>
              <a:t>Our paddle can go wherever it wants to! We need to stop that by updating the if-conditions.</a:t>
            </a:r>
          </a:p>
          <a:p>
            <a:r>
              <a:rPr lang="en-CA" dirty="0"/>
              <a:t>To add another condition to the if-statement, we join them by using the word “</a:t>
            </a:r>
            <a:r>
              <a:rPr lang="en-CA" b="1" dirty="0"/>
              <a:t>and”</a:t>
            </a:r>
            <a:endParaRPr lang="en-CA" dirty="0"/>
          </a:p>
          <a:p>
            <a:r>
              <a:rPr lang="en-CA" dirty="0"/>
              <a:t>Combine the button statements with conditions that check the position of our paddle to ensure it doesn’t move too far!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68DE5-63CC-6952-9B4B-A90A2760E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381" y="4451091"/>
            <a:ext cx="6354062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66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3360-165F-2336-29B1-821C53FB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8977E-93B6-CFC4-819F-5F72FB26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the Ball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6B24D-A2CF-85DD-EBD9-A8F5D52BEB4A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>
            <a:normAutofit/>
          </a:bodyPr>
          <a:lstStyle/>
          <a:p>
            <a:r>
              <a:rPr lang="en-CA" dirty="0"/>
              <a:t>Next, make the ball by creating another Actor</a:t>
            </a:r>
          </a:p>
          <a:p>
            <a:r>
              <a:rPr lang="en-CA" dirty="0"/>
              <a:t>Set its position using </a:t>
            </a:r>
            <a:r>
              <a:rPr lang="en-CA" dirty="0" err="1"/>
              <a:t>ball.center</a:t>
            </a:r>
            <a:endParaRPr lang="en-CA" dirty="0"/>
          </a:p>
          <a:p>
            <a:r>
              <a:rPr lang="en-CA" dirty="0"/>
              <a:t>Remember to draw the ball in the draw method!</a:t>
            </a:r>
          </a:p>
          <a:p>
            <a:r>
              <a:rPr lang="en-CA" dirty="0"/>
              <a:t>Test your game when you finish!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E8310D-F8D4-86CF-A56E-F2EE7ACDD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6" y="1628800"/>
            <a:ext cx="5029902" cy="7430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BA02D8-87E2-0FF6-E188-08D35D984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718460"/>
            <a:ext cx="3458058" cy="781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F6671D-6AAB-C121-F505-AD0FE5388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32" y="3846225"/>
            <a:ext cx="5809214" cy="259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15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ACC4-2038-FCD4-E186-7D25FE46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9328-BE76-390C-3E7E-A3DCE9FC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Moving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 – Part 1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2A552-DD70-E2FD-0ABC-C458DBBC21E8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>
            <a:normAutofit/>
          </a:bodyPr>
          <a:lstStyle/>
          <a:p>
            <a:r>
              <a:rPr lang="en-CA" dirty="0"/>
              <a:t>To start, let’s define three new variables </a:t>
            </a:r>
            <a:r>
              <a:rPr lang="en-CA" i="1" dirty="0"/>
              <a:t>above</a:t>
            </a:r>
            <a:r>
              <a:rPr lang="en-CA" dirty="0"/>
              <a:t> your paddle and ball Actors:</a:t>
            </a:r>
          </a:p>
          <a:p>
            <a:pPr lvl="1"/>
            <a:r>
              <a:rPr lang="en-CA" dirty="0"/>
              <a:t>Set a </a:t>
            </a:r>
            <a:r>
              <a:rPr lang="en-CA" dirty="0" err="1">
                <a:latin typeface="Consolas" panose="020B0609020204030204" pitchFamily="49" charset="0"/>
              </a:rPr>
              <a:t>ball_moving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variable to False</a:t>
            </a:r>
          </a:p>
          <a:p>
            <a:pPr lvl="1"/>
            <a:r>
              <a:rPr lang="en-CA" dirty="0"/>
              <a:t>Set a </a:t>
            </a:r>
            <a:r>
              <a:rPr lang="en-CA" dirty="0" err="1">
                <a:latin typeface="Consolas" panose="020B0609020204030204" pitchFamily="49" charset="0"/>
              </a:rPr>
              <a:t>ball_vx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variable to 0</a:t>
            </a:r>
          </a:p>
          <a:p>
            <a:pPr lvl="1"/>
            <a:r>
              <a:rPr lang="en-CA" dirty="0"/>
              <a:t>Set a </a:t>
            </a:r>
            <a:r>
              <a:rPr lang="en-CA" dirty="0" err="1">
                <a:latin typeface="Consolas" panose="020B0609020204030204" pitchFamily="49" charset="0"/>
              </a:rPr>
              <a:t>ball_vy</a:t>
            </a:r>
            <a:r>
              <a:rPr lang="en-CA" dirty="0">
                <a:latin typeface="Consolas" panose="020B0609020204030204" pitchFamily="49" charset="0"/>
              </a:rPr>
              <a:t> </a:t>
            </a:r>
            <a:r>
              <a:rPr lang="en-CA" dirty="0"/>
              <a:t>variable to 0</a:t>
            </a:r>
          </a:p>
          <a:p>
            <a:pPr marL="377886" lvl="1" indent="0">
              <a:buNone/>
            </a:pP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37210-9302-DCBC-8C91-3864606E6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61" y="2204864"/>
            <a:ext cx="5304651" cy="146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32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F9A22-B236-11F7-FE85-70B68F35D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C9199-A23C-D743-7F95-1AA6E309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Moving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 – Part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A51C-94BA-6575-3891-EEAEBBAA218A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465320"/>
          </a:xfrm>
        </p:spPr>
        <p:txBody>
          <a:bodyPr>
            <a:normAutofit/>
          </a:bodyPr>
          <a:lstStyle/>
          <a:p>
            <a:r>
              <a:rPr lang="en-CA" dirty="0"/>
              <a:t>Next, in the update method, move the ball with the paddle </a:t>
            </a:r>
            <a:r>
              <a:rPr lang="en-CA" i="1" dirty="0"/>
              <a:t>if the ball isn’t moving</a:t>
            </a:r>
          </a:p>
          <a:p>
            <a:r>
              <a:rPr lang="en-CA" dirty="0"/>
              <a:t>Use an if-statement to check if the ball is </a:t>
            </a:r>
            <a:r>
              <a:rPr lang="en-CA" b="1" i="1" dirty="0"/>
              <a:t>not</a:t>
            </a:r>
            <a:r>
              <a:rPr lang="en-CA" i="1" dirty="0"/>
              <a:t> </a:t>
            </a:r>
            <a:r>
              <a:rPr lang="en-CA" dirty="0"/>
              <a:t>moving</a:t>
            </a:r>
          </a:p>
          <a:p>
            <a:pPr lvl="1"/>
            <a:r>
              <a:rPr lang="en-CA" dirty="0"/>
              <a:t>If not, move the ball at the same speed as the paddles</a:t>
            </a:r>
          </a:p>
          <a:p>
            <a:r>
              <a:rPr lang="en-CA" dirty="0"/>
              <a:t>Do this for both directions</a:t>
            </a:r>
          </a:p>
          <a:p>
            <a:r>
              <a:rPr lang="en-CA" dirty="0"/>
              <a:t>Test the game!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903BE-776B-73B3-70B1-32C0CBF12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1" y="2852936"/>
            <a:ext cx="6068272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42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B954-5C95-BFED-5ABF-1B75823D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558C-58F5-EEFC-FDE6-A2B1DC269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LAUNCHING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 – Part 1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29C42-DF88-BFB2-6E8D-26398101FEBB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Code the SPACE BAR to launch the ball!</a:t>
            </a:r>
          </a:p>
          <a:p>
            <a:r>
              <a:rPr lang="en-CA" dirty="0"/>
              <a:t>Create a new </a:t>
            </a:r>
            <a:r>
              <a:rPr lang="en-CA" i="1" dirty="0"/>
              <a:t>if</a:t>
            </a:r>
            <a:r>
              <a:rPr lang="en-CA" dirty="0"/>
              <a:t>-statement in the update method to check if the space bar is pressed AND the ball is not moving</a:t>
            </a:r>
          </a:p>
          <a:p>
            <a:r>
              <a:rPr lang="en-CA" dirty="0"/>
              <a:t>Then:</a:t>
            </a:r>
          </a:p>
          <a:p>
            <a:pPr lvl="1"/>
            <a:r>
              <a:rPr lang="en-CA" dirty="0"/>
              <a:t>Set </a:t>
            </a:r>
            <a:r>
              <a:rPr lang="en-CA" dirty="0" err="1"/>
              <a:t>ball_moving</a:t>
            </a:r>
            <a:r>
              <a:rPr lang="en-CA" dirty="0"/>
              <a:t> to True</a:t>
            </a:r>
          </a:p>
          <a:p>
            <a:pPr lvl="1"/>
            <a:r>
              <a:rPr lang="en-CA" dirty="0"/>
              <a:t>Set </a:t>
            </a:r>
            <a:r>
              <a:rPr lang="en-CA" dirty="0" err="1"/>
              <a:t>ball_vx</a:t>
            </a:r>
            <a:r>
              <a:rPr lang="en-CA" dirty="0"/>
              <a:t> to 1</a:t>
            </a:r>
          </a:p>
          <a:p>
            <a:pPr lvl="1"/>
            <a:r>
              <a:rPr lang="en-CA" dirty="0"/>
              <a:t>Set </a:t>
            </a:r>
            <a:r>
              <a:rPr lang="en-CA" dirty="0" err="1"/>
              <a:t>ball_vy</a:t>
            </a:r>
            <a:r>
              <a:rPr lang="en-CA" dirty="0"/>
              <a:t> to -3</a:t>
            </a:r>
          </a:p>
          <a:p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C10DCE-433C-FF0E-E01F-9CAF0DAB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80" y="3170275"/>
            <a:ext cx="5904656" cy="134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20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E5176-4585-C328-F292-1F5CB42B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BE4F08-5959-0D85-2F6B-0E2B6B7D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4" y="3081289"/>
            <a:ext cx="8938472" cy="2764335"/>
          </a:xfrm>
        </p:spPr>
        <p:txBody>
          <a:bodyPr/>
          <a:lstStyle/>
          <a:p>
            <a:r>
              <a:rPr lang="en-CA" dirty="0"/>
              <a:t>Oh no! Our code doesn’t work!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A1D58F-42DB-D08F-F206-97B206341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9" y="3081289"/>
            <a:ext cx="11774543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1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09C3-C2E3-4F12-C8E5-F7D2F7DAD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4CF7-E89A-26D0-1165-F72DA321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LAUNCHING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 – Part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1B092-DC27-4D69-5606-BBED3BF169D6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We need to make our variables </a:t>
            </a:r>
            <a:r>
              <a:rPr lang="en-CA" b="1" dirty="0"/>
              <a:t>global</a:t>
            </a:r>
            <a:r>
              <a:rPr lang="en-CA" dirty="0"/>
              <a:t> so that the update method knows which ones we’re talking about</a:t>
            </a:r>
          </a:p>
          <a:p>
            <a:r>
              <a:rPr lang="en-CA" dirty="0"/>
              <a:t>At the very top of our update method, make </a:t>
            </a:r>
            <a:r>
              <a:rPr lang="en-CA" dirty="0" err="1">
                <a:latin typeface="Consolas" panose="020B0609020204030204" pitchFamily="49" charset="0"/>
              </a:rPr>
              <a:t>ball_vx</a:t>
            </a:r>
            <a:r>
              <a:rPr lang="en-CA" dirty="0">
                <a:latin typeface="Consolas" panose="020B0609020204030204" pitchFamily="49" charset="0"/>
              </a:rPr>
              <a:t>, </a:t>
            </a:r>
            <a:r>
              <a:rPr lang="en-CA" dirty="0" err="1">
                <a:latin typeface="Consolas" panose="020B0609020204030204" pitchFamily="49" charset="0"/>
              </a:rPr>
              <a:t>ball_vy</a:t>
            </a:r>
            <a:r>
              <a:rPr lang="en-CA" dirty="0">
                <a:latin typeface="+mj-lt"/>
              </a:rPr>
              <a:t>, and </a:t>
            </a:r>
            <a:r>
              <a:rPr lang="en-CA" dirty="0" err="1">
                <a:latin typeface="Consolas" panose="020B0609020204030204" pitchFamily="49" charset="0"/>
              </a:rPr>
              <a:t>ball_moving</a:t>
            </a:r>
            <a:r>
              <a:rPr lang="en-CA" dirty="0">
                <a:latin typeface="+mj-lt"/>
              </a:rPr>
              <a:t> global variables by typing each of their names with the word “global” before it</a:t>
            </a:r>
            <a:endParaRPr lang="en-CA" dirty="0"/>
          </a:p>
          <a:p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6C211-E659-0D85-1463-4B8F01053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2204864"/>
            <a:ext cx="502465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33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912B6-0080-A698-AAC0-510A1325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36EB-CF83-C5AE-8269-57364F0EA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Bouncing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8139C-AB80-29C4-5F34-D16E61E86228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 lnSpcReduction="10000"/>
          </a:bodyPr>
          <a:lstStyle/>
          <a:p>
            <a:r>
              <a:rPr lang="en-CA" dirty="0"/>
              <a:t>Now our ball flies off the screen! It should bounce on the walls!</a:t>
            </a:r>
          </a:p>
          <a:p>
            <a:r>
              <a:rPr lang="en-CA" dirty="0"/>
              <a:t>We need to add another section to our update method that checks the position of the ball and changes its velocity if needed</a:t>
            </a:r>
          </a:p>
          <a:p>
            <a:r>
              <a:rPr lang="en-CA" dirty="0">
                <a:latin typeface="Consolas" panose="020B0609020204030204" pitchFamily="49" charset="0"/>
              </a:rPr>
              <a:t>abs()</a:t>
            </a:r>
            <a:r>
              <a:rPr lang="en-CA" dirty="0">
                <a:latin typeface="+mj-lt"/>
              </a:rPr>
              <a:t> stands for “absolute value”, which makes the value inside the brackets positive</a:t>
            </a:r>
            <a:endParaRPr lang="en-CA" dirty="0">
              <a:latin typeface="Consolas" panose="020B0609020204030204" pitchFamily="49" charset="0"/>
            </a:endParaRPr>
          </a:p>
          <a:p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2E4AC5-CB9D-C08A-5519-BD04D013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72" y="2570791"/>
            <a:ext cx="5925377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66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D737-6A6A-6DD3-D4FE-5D7203C7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48770-1331-668C-23C5-DB7C00A7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Hitting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D34D5-4BB6-CAE3-1BAA-7383B602F316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981845" y="1628800"/>
            <a:ext cx="10609518" cy="4608512"/>
          </a:xfrm>
        </p:spPr>
        <p:txBody>
          <a:bodyPr>
            <a:normAutofit/>
          </a:bodyPr>
          <a:lstStyle/>
          <a:p>
            <a:r>
              <a:rPr lang="en-CA" dirty="0">
                <a:latin typeface="+mj-lt"/>
              </a:rPr>
              <a:t>Next, we need to have our ball bounce off the paddle.</a:t>
            </a:r>
          </a:p>
          <a:p>
            <a:r>
              <a:rPr lang="en-CA" dirty="0">
                <a:latin typeface="+mj-lt"/>
              </a:rPr>
              <a:t>For this, we need to use the </a:t>
            </a:r>
            <a:r>
              <a:rPr lang="en-CA" dirty="0" err="1">
                <a:latin typeface="Consolas" panose="020B0609020204030204" pitchFamily="49" charset="0"/>
              </a:rPr>
              <a:t>colliderect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>
                <a:latin typeface="+mj-lt"/>
              </a:rPr>
              <a:t> method</a:t>
            </a:r>
          </a:p>
          <a:p>
            <a:r>
              <a:rPr lang="en-CA" dirty="0">
                <a:latin typeface="+mj-lt"/>
              </a:rPr>
              <a:t>This method checks if two sprites have collided with each other. It returns True if they have and False if they haven’t</a:t>
            </a:r>
          </a:p>
          <a:p>
            <a:r>
              <a:rPr lang="en-CA" dirty="0">
                <a:latin typeface="+mj-lt"/>
              </a:rPr>
              <a:t>This method can be used with an </a:t>
            </a:r>
            <a:r>
              <a:rPr lang="en-CA" i="1" dirty="0">
                <a:latin typeface="+mj-lt"/>
              </a:rPr>
              <a:t>if</a:t>
            </a:r>
            <a:r>
              <a:rPr lang="en-CA" dirty="0">
                <a:latin typeface="+mj-lt"/>
              </a:rPr>
              <a:t>-statement to run some code when two sprites overlap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7B5CD-CD16-9FF7-B609-19AF758F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628" y="5085184"/>
            <a:ext cx="7157568" cy="102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78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63314-EC01-ADE6-464A-9EB0D955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4746-A8BF-36E6-91BD-C1420FB1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Hitting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A94F2-9555-448F-F836-76AF0F970619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30863" y="1628800"/>
            <a:ext cx="10360500" cy="4608512"/>
          </a:xfrm>
        </p:spPr>
        <p:txBody>
          <a:bodyPr>
            <a:normAutofit/>
          </a:bodyPr>
          <a:lstStyle/>
          <a:p>
            <a:r>
              <a:rPr lang="en-CA" dirty="0"/>
              <a:t>Put this section of code in your </a:t>
            </a:r>
            <a:r>
              <a:rPr lang="en-CA" i="1" dirty="0"/>
              <a:t>update</a:t>
            </a:r>
            <a:r>
              <a:rPr lang="en-CA" dirty="0"/>
              <a:t> function</a:t>
            </a:r>
          </a:p>
          <a:p>
            <a:r>
              <a:rPr lang="en-CA" dirty="0"/>
              <a:t>We change the ball’s direction with the first line of code</a:t>
            </a:r>
          </a:p>
          <a:p>
            <a:r>
              <a:rPr lang="en-CA" dirty="0"/>
              <a:t>Then, we let the player “push” the ball in one direction with the other lines of code</a:t>
            </a:r>
            <a:endParaRPr lang="en-CA" dirty="0">
              <a:latin typeface="Consolas" panose="020B0609020204030204" pitchFamily="49" charset="0"/>
            </a:endParaRPr>
          </a:p>
          <a:p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1AC26-0C3A-5D34-CE8F-CA0E34C6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835" y="3967336"/>
            <a:ext cx="5898595" cy="232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76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FCDC-6D2D-0D31-6003-3C8DB25A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27D0-DAD2-7A55-1C7C-A91A83B2D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Resetting</a:t>
            </a:r>
            <a:r>
              <a:rPr kumimoji="0" lang="en-US" b="0" i="0" u="none" strike="noStrike" kern="1200" cap="all" spc="200" normalizeH="0" baseline="0" noProof="0" dirty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the Ball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6A363-D6D0-D562-10EF-B2B98537A81E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What happens if we miss the ball? How can we tell in the game if we missed the ball?</a:t>
            </a:r>
          </a:p>
          <a:p>
            <a:r>
              <a:rPr lang="en-CA" dirty="0"/>
              <a:t>This section of code goes in the </a:t>
            </a:r>
            <a:r>
              <a:rPr lang="en-CA" i="1" dirty="0"/>
              <a:t>update </a:t>
            </a:r>
            <a:r>
              <a:rPr lang="en-CA" dirty="0"/>
              <a:t>function</a:t>
            </a:r>
          </a:p>
          <a:p>
            <a:r>
              <a:rPr lang="en-CA" dirty="0"/>
              <a:t>If the ball reaches a certain </a:t>
            </a:r>
            <a:r>
              <a:rPr lang="en-CA" i="1" dirty="0"/>
              <a:t>y</a:t>
            </a:r>
            <a:r>
              <a:rPr lang="en-CA" dirty="0"/>
              <a:t> value, we should:</a:t>
            </a:r>
          </a:p>
          <a:p>
            <a:pPr lvl="1"/>
            <a:r>
              <a:rPr lang="en-CA" dirty="0"/>
              <a:t>stop moving the ball, </a:t>
            </a:r>
          </a:p>
          <a:p>
            <a:pPr lvl="1"/>
            <a:r>
              <a:rPr lang="en-CA" dirty="0"/>
              <a:t>set its speed to 0, </a:t>
            </a:r>
          </a:p>
          <a:p>
            <a:pPr lvl="1"/>
            <a:r>
              <a:rPr lang="en-CA" dirty="0"/>
              <a:t>and reset its position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EF44B-FF12-6F79-55C8-919852301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33" y="2456892"/>
            <a:ext cx="5775358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35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7E2F-FFF3-552F-8375-1E71F8A3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26AC-0BB6-20B9-095E-44B932FE5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Creating the Bricks – </a:t>
            </a:r>
            <a:r>
              <a:rPr lang="en-US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For</a:t>
            </a: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Loops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EEDB6-818C-2E50-7C00-2F2371A33192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053853" y="1628800"/>
            <a:ext cx="10537510" cy="4465320"/>
          </a:xfrm>
        </p:spPr>
        <p:txBody>
          <a:bodyPr>
            <a:normAutofit/>
          </a:bodyPr>
          <a:lstStyle/>
          <a:p>
            <a:r>
              <a:rPr lang="en-CA" dirty="0"/>
              <a:t>We can easily create one brick for our project, but how can we make a whole bunch of bricks easily?</a:t>
            </a:r>
          </a:p>
          <a:p>
            <a:r>
              <a:rPr lang="en-CA" dirty="0">
                <a:latin typeface="+mj-lt"/>
              </a:rPr>
              <a:t>To do this, we’ll use something called a </a:t>
            </a:r>
            <a:r>
              <a:rPr lang="en-CA" b="1" dirty="0">
                <a:latin typeface="+mj-lt"/>
              </a:rPr>
              <a:t>for loop</a:t>
            </a:r>
            <a:endParaRPr lang="en-CA" dirty="0">
              <a:latin typeface="+mj-lt"/>
            </a:endParaRPr>
          </a:p>
          <a:p>
            <a:r>
              <a:rPr lang="en-CA" dirty="0">
                <a:latin typeface="+mj-lt"/>
              </a:rPr>
              <a:t>A </a:t>
            </a:r>
            <a:r>
              <a:rPr lang="en-CA" b="1" dirty="0">
                <a:latin typeface="+mj-lt"/>
              </a:rPr>
              <a:t>for loop</a:t>
            </a:r>
            <a:r>
              <a:rPr lang="en-CA" dirty="0">
                <a:latin typeface="+mj-lt"/>
              </a:rPr>
              <a:t> is something that we can use to repeat the same code so the same thing multiple times. For this project, we’ll use it to create an array of bricks.</a:t>
            </a:r>
          </a:p>
        </p:txBody>
      </p:sp>
    </p:spTree>
    <p:extLst>
      <p:ext uri="{BB962C8B-B14F-4D97-AF65-F5344CB8AC3E}">
        <p14:creationId xmlns:p14="http://schemas.microsoft.com/office/powerpoint/2010/main" val="1164845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FEFB08-E996-BC00-4E1E-1AA55659E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8" y="1124744"/>
            <a:ext cx="8208912" cy="4611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01538-AF25-7BB5-A724-B64EFD4B8161}"/>
              </a:ext>
            </a:extLst>
          </p:cNvPr>
          <p:cNvSpPr txBox="1"/>
          <p:nvPr/>
        </p:nvSpPr>
        <p:spPr>
          <a:xfrm>
            <a:off x="5446340" y="698158"/>
            <a:ext cx="903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Start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130D3-D1DD-20D8-36C7-929C47B42AA0}"/>
              </a:ext>
            </a:extLst>
          </p:cNvPr>
          <p:cNvSpPr txBox="1"/>
          <p:nvPr/>
        </p:nvSpPr>
        <p:spPr>
          <a:xfrm>
            <a:off x="6526460" y="698158"/>
            <a:ext cx="903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1D7F3-50A3-93AD-9BD4-5037F16872DA}"/>
              </a:ext>
            </a:extLst>
          </p:cNvPr>
          <p:cNvSpPr txBox="1"/>
          <p:nvPr/>
        </p:nvSpPr>
        <p:spPr>
          <a:xfrm>
            <a:off x="7606580" y="698158"/>
            <a:ext cx="903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Step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A5E37-B2B2-1534-0E4C-97E86F0EDC03}"/>
              </a:ext>
            </a:extLst>
          </p:cNvPr>
          <p:cNvSpPr txBox="1"/>
          <p:nvPr/>
        </p:nvSpPr>
        <p:spPr>
          <a:xfrm>
            <a:off x="2566020" y="698158"/>
            <a:ext cx="1067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425252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7C90-D85D-74DA-7405-DDD31964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1D6A-0FA2-8A8C-04B4-660F05D8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the Bricks – </a:t>
            </a:r>
            <a:r>
              <a:rPr lang="en-US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Lists</a:t>
            </a: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and </a:t>
            </a:r>
            <a:r>
              <a:rPr lang="en-US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For</a:t>
            </a: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Loops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B4922-551B-8FBC-C7EE-8DB88D44B333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981845" y="1628800"/>
            <a:ext cx="10609518" cy="4465320"/>
          </a:xfrm>
        </p:spPr>
        <p:txBody>
          <a:bodyPr>
            <a:normAutofit/>
          </a:bodyPr>
          <a:lstStyle/>
          <a:p>
            <a:r>
              <a:rPr lang="en-CA" dirty="0"/>
              <a:t>Now we have created our bricks, but how do we draw them?</a:t>
            </a:r>
          </a:p>
          <a:p>
            <a:r>
              <a:rPr lang="en-CA" dirty="0">
                <a:latin typeface="+mj-lt"/>
              </a:rPr>
              <a:t>We can’t draw them the same way that we draw the paddle and ball because the bricks don’t have a unique name!</a:t>
            </a:r>
          </a:p>
          <a:p>
            <a:r>
              <a:rPr lang="en-CA" dirty="0">
                <a:latin typeface="+mj-lt"/>
              </a:rPr>
              <a:t>For this, we’ll store all of the bricks in a </a:t>
            </a:r>
            <a:r>
              <a:rPr lang="en-CA" b="1" dirty="0">
                <a:latin typeface="+mj-lt"/>
              </a:rPr>
              <a:t>list</a:t>
            </a:r>
            <a:r>
              <a:rPr lang="en-CA" dirty="0">
                <a:latin typeface="+mj-lt"/>
              </a:rPr>
              <a:t> and use a </a:t>
            </a:r>
            <a:r>
              <a:rPr lang="en-CA" b="1" dirty="0">
                <a:latin typeface="+mj-lt"/>
              </a:rPr>
              <a:t>for element</a:t>
            </a:r>
            <a:r>
              <a:rPr lang="en-CA" dirty="0">
                <a:latin typeface="+mj-lt"/>
              </a:rPr>
              <a:t> loop to draw all of the bricks in the list</a:t>
            </a:r>
          </a:p>
          <a:p>
            <a:r>
              <a:rPr lang="en-CA" dirty="0">
                <a:latin typeface="+mj-lt"/>
              </a:rPr>
              <a:t>In Python, a list is indicated by two square brackets: </a:t>
            </a:r>
            <a:r>
              <a:rPr lang="en-CA" dirty="0">
                <a:latin typeface="Consolas" panose="020B0609020204030204" pitchFamily="49" charset="0"/>
              </a:rPr>
              <a:t>[]</a:t>
            </a:r>
          </a:p>
        </p:txBody>
      </p:sp>
    </p:spTree>
    <p:extLst>
      <p:ext uri="{BB962C8B-B14F-4D97-AF65-F5344CB8AC3E}">
        <p14:creationId xmlns:p14="http://schemas.microsoft.com/office/powerpoint/2010/main" val="1157179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F6CB-B8E2-9BF7-752C-7A857EE36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B520-5CC3-2BA6-0CF3-5E1DCAC5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the Bricks – Part 1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CE45D-745F-7D45-89B2-24B8FD5BC021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To create a new list, assign a new variable to an empty list: </a:t>
            </a:r>
            <a:r>
              <a:rPr lang="en-CA" dirty="0">
                <a:latin typeface="Consolas" panose="020B0609020204030204" pitchFamily="49" charset="0"/>
              </a:rPr>
              <a:t>[]</a:t>
            </a:r>
          </a:p>
          <a:p>
            <a:r>
              <a:rPr lang="en-CA" dirty="0"/>
              <a:t>To add stuff to the list, uses the list’s name, </a:t>
            </a:r>
            <a:r>
              <a:rPr lang="en-CA" dirty="0">
                <a:latin typeface="Consolas" panose="020B0609020204030204" pitchFamily="49" charset="0"/>
              </a:rPr>
              <a:t>.append()</a:t>
            </a:r>
            <a:r>
              <a:rPr lang="en-CA" dirty="0"/>
              <a:t>, and put the stuff that you want to add to the list inside the brackets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3431F-61A7-0544-F63A-B21E8ED2A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75" y="1772816"/>
            <a:ext cx="5592944" cy="424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55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8621-92BF-900F-AA3C-4727EB40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FADF-A026-0EF6-EB2C-7389764D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the Bricks – Part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CF422-B60D-DB06-9D6A-39B58D714BE9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Now, we’ll use a </a:t>
            </a:r>
            <a:r>
              <a:rPr lang="en-CA" b="1" dirty="0"/>
              <a:t>for element </a:t>
            </a:r>
            <a:r>
              <a:rPr lang="en-CA" dirty="0"/>
              <a:t>loop in the bottom of the </a:t>
            </a:r>
            <a:r>
              <a:rPr lang="en-CA" i="1" dirty="0"/>
              <a:t>draw </a:t>
            </a:r>
            <a:r>
              <a:rPr lang="en-CA" dirty="0"/>
              <a:t>function to draw the bricks</a:t>
            </a:r>
          </a:p>
          <a:p>
            <a:r>
              <a:rPr lang="en-CA" dirty="0"/>
              <a:t>You should draw </a:t>
            </a:r>
            <a:r>
              <a:rPr lang="en-CA" b="1" dirty="0"/>
              <a:t>every brick in the bricks list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7C99D-A8BD-447E-6A1F-F589A290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941" y="4581128"/>
            <a:ext cx="3496163" cy="1486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DB3032-AB83-60FC-F0E5-D4CBC86AB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52" y="1637202"/>
            <a:ext cx="4825889" cy="48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96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746B1-6465-4092-18E3-82037C71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33A2-E447-D0A2-63E3-81052D4C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Hitting the Bricks – </a:t>
            </a:r>
            <a:r>
              <a:rPr lang="en-US" b="1" cap="all" spc="200" dirty="0" err="1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CollideList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F57A2-7AA2-A8CD-9C74-0FC930DE4F18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388721" y="1628799"/>
            <a:ext cx="10202641" cy="4954563"/>
          </a:xfrm>
        </p:spPr>
        <p:txBody>
          <a:bodyPr>
            <a:normAutofit/>
          </a:bodyPr>
          <a:lstStyle/>
          <a:p>
            <a:r>
              <a:rPr lang="en-CA" dirty="0"/>
              <a:t>Now, we need the ball to hit our bricks</a:t>
            </a:r>
          </a:p>
          <a:p>
            <a:r>
              <a:rPr lang="en-CA" dirty="0"/>
              <a:t>Just like we can’t draw the bricks the same way as we drew the paddle and ball, we can’t check for collisions the same way either</a:t>
            </a:r>
          </a:p>
          <a:p>
            <a:r>
              <a:rPr lang="en-CA" dirty="0"/>
              <a:t>Now, we’ll check if the ball collided with </a:t>
            </a:r>
            <a:r>
              <a:rPr lang="en-CA" i="1" dirty="0"/>
              <a:t>any</a:t>
            </a:r>
            <a:r>
              <a:rPr lang="en-CA" dirty="0"/>
              <a:t> brick in the </a:t>
            </a:r>
            <a:r>
              <a:rPr lang="en-CA" dirty="0">
                <a:latin typeface="Consolas" panose="020B0609020204030204" pitchFamily="49" charset="0"/>
              </a:rPr>
              <a:t>bricks</a:t>
            </a:r>
            <a:r>
              <a:rPr lang="en-CA" dirty="0"/>
              <a:t> list by using </a:t>
            </a:r>
            <a:r>
              <a:rPr lang="en-CA" dirty="0" err="1">
                <a:latin typeface="Consolas" panose="020B0609020204030204" pitchFamily="49" charset="0"/>
              </a:rPr>
              <a:t>ball.collidelist</a:t>
            </a:r>
            <a:r>
              <a:rPr lang="en-CA" dirty="0">
                <a:latin typeface="Consolas" panose="020B0609020204030204" pitchFamily="49" charset="0"/>
              </a:rPr>
              <a:t>(bricks)</a:t>
            </a:r>
          </a:p>
          <a:p>
            <a:r>
              <a:rPr lang="en-CA" dirty="0">
                <a:latin typeface="+mj-lt"/>
              </a:rPr>
              <a:t>If the ball </a:t>
            </a:r>
            <a:r>
              <a:rPr lang="en-CA" i="1" dirty="0">
                <a:latin typeface="+mj-lt"/>
              </a:rPr>
              <a:t>didn’t</a:t>
            </a:r>
            <a:r>
              <a:rPr lang="en-CA" dirty="0">
                <a:latin typeface="+mj-lt"/>
              </a:rPr>
              <a:t> collide with any brick, this value will be -1. If it did collide, it will return a number bigger than or equal to 0 that represents which brick the ball hit</a:t>
            </a:r>
          </a:p>
          <a:p>
            <a:r>
              <a:rPr lang="en-CA" dirty="0">
                <a:latin typeface="+mj-lt"/>
              </a:rPr>
              <a:t>How can you use this with an </a:t>
            </a:r>
            <a:r>
              <a:rPr lang="en-CA" i="1" dirty="0">
                <a:latin typeface="+mj-lt"/>
              </a:rPr>
              <a:t>if</a:t>
            </a:r>
            <a:r>
              <a:rPr lang="en-CA" dirty="0">
                <a:latin typeface="+mj-lt"/>
              </a:rPr>
              <a:t>-statement to run some code when the ball hits a brick?</a:t>
            </a:r>
          </a:p>
        </p:txBody>
      </p:sp>
    </p:spTree>
    <p:extLst>
      <p:ext uri="{BB962C8B-B14F-4D97-AF65-F5344CB8AC3E}">
        <p14:creationId xmlns:p14="http://schemas.microsoft.com/office/powerpoint/2010/main" val="4188134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D165-7873-6893-267F-4A9F9FED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797F-6866-7FAE-1C43-41DD2B55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Hitting the Bricks – </a:t>
            </a:r>
            <a:r>
              <a:rPr lang="en-US" cap="all" spc="200" dirty="0" err="1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PaRt</a:t>
            </a: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1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48C0D-79F7-F527-137E-F8AD78F7BE31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388721" y="1628799"/>
            <a:ext cx="10202641" cy="4954563"/>
          </a:xfrm>
        </p:spPr>
        <p:txBody>
          <a:bodyPr>
            <a:normAutofit/>
          </a:bodyPr>
          <a:lstStyle/>
          <a:p>
            <a:r>
              <a:rPr lang="en-CA" dirty="0">
                <a:latin typeface="+mj-lt"/>
              </a:rPr>
              <a:t>This section of code will go in the bottom of your </a:t>
            </a:r>
            <a:r>
              <a:rPr lang="en-CA" i="1" dirty="0">
                <a:latin typeface="+mj-lt"/>
              </a:rPr>
              <a:t>update </a:t>
            </a:r>
            <a:r>
              <a:rPr lang="en-CA" dirty="0">
                <a:latin typeface="+mj-lt"/>
              </a:rPr>
              <a:t>function</a:t>
            </a:r>
          </a:p>
          <a:p>
            <a:r>
              <a:rPr lang="en-CA" dirty="0">
                <a:latin typeface="+mj-lt"/>
              </a:rPr>
              <a:t>First, find out the value of </a:t>
            </a:r>
            <a:r>
              <a:rPr lang="en-CA" dirty="0" err="1">
                <a:latin typeface="Consolas" panose="020B0609020204030204" pitchFamily="49" charset="0"/>
              </a:rPr>
              <a:t>ball.collidelist</a:t>
            </a:r>
            <a:r>
              <a:rPr lang="en-CA" dirty="0">
                <a:latin typeface="Consolas" panose="020B0609020204030204" pitchFamily="49" charset="0"/>
              </a:rPr>
              <a:t>(bricks)</a:t>
            </a:r>
            <a:r>
              <a:rPr lang="en-CA" dirty="0">
                <a:latin typeface="+mj-lt"/>
              </a:rPr>
              <a:t>, then see if it is </a:t>
            </a:r>
            <a:r>
              <a:rPr lang="en-CA" i="1" dirty="0">
                <a:latin typeface="+mj-lt"/>
              </a:rPr>
              <a:t>not</a:t>
            </a:r>
            <a:r>
              <a:rPr lang="en-CA" dirty="0">
                <a:latin typeface="+mj-lt"/>
              </a:rPr>
              <a:t> equal to -1</a:t>
            </a:r>
          </a:p>
          <a:p>
            <a:r>
              <a:rPr lang="en-CA" dirty="0">
                <a:latin typeface="+mj-lt"/>
              </a:rPr>
              <a:t>If it isn’t -1, we must’ve hit a brick!</a:t>
            </a:r>
            <a:endParaRPr lang="en-CA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FFF14-32B5-51CB-27E9-677069C02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914" y="4617219"/>
            <a:ext cx="7688995" cy="12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88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975BA-446C-8034-514B-F37AC377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C63A-53AE-FF93-503A-44493897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Hitting the Bricks – </a:t>
            </a:r>
            <a:r>
              <a:rPr lang="en-US" cap="all" spc="200" dirty="0" err="1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PaRt</a:t>
            </a: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CBDA7-FBB2-D462-E7A8-CED13CBC87F3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388721" y="1628799"/>
            <a:ext cx="10202641" cy="4954563"/>
          </a:xfrm>
        </p:spPr>
        <p:txBody>
          <a:bodyPr>
            <a:normAutofit/>
          </a:bodyPr>
          <a:lstStyle/>
          <a:p>
            <a:r>
              <a:rPr lang="en-CA" dirty="0">
                <a:latin typeface="+mj-lt"/>
              </a:rPr>
              <a:t>When we hit the bricks, three things should happen:</a:t>
            </a:r>
          </a:p>
          <a:p>
            <a:pPr lvl="1"/>
            <a:r>
              <a:rPr lang="en-CA" dirty="0">
                <a:latin typeface="+mj-lt"/>
              </a:rPr>
              <a:t>The ball should change direction</a:t>
            </a:r>
          </a:p>
          <a:p>
            <a:pPr lvl="1"/>
            <a:r>
              <a:rPr lang="en-CA" dirty="0">
                <a:latin typeface="+mj-lt"/>
              </a:rPr>
              <a:t>The brick should be destroyed</a:t>
            </a:r>
          </a:p>
          <a:p>
            <a:pPr lvl="1"/>
            <a:r>
              <a:rPr lang="en-CA" dirty="0">
                <a:latin typeface="+mj-lt"/>
              </a:rPr>
              <a:t>The score should increase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0B766-AB18-59A4-2440-EAB381DC3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967" y="3645024"/>
            <a:ext cx="10568331" cy="282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41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1526-BFAD-03B3-C6D0-24CC847E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8B9B-371D-E711-E107-DD7A94CA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Increasing the Score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88380-E851-87DD-48D5-20EB094222D9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Before we can increase the score, we need to create the score!</a:t>
            </a:r>
          </a:p>
          <a:p>
            <a:r>
              <a:rPr lang="en-CA" dirty="0"/>
              <a:t>At the top of our game, set a new score variable to 0.</a:t>
            </a:r>
          </a:p>
          <a:p>
            <a:r>
              <a:rPr lang="en-CA" dirty="0"/>
              <a:t>At the top of the </a:t>
            </a:r>
            <a:r>
              <a:rPr lang="en-CA" i="1" dirty="0"/>
              <a:t>update </a:t>
            </a:r>
            <a:r>
              <a:rPr lang="en-CA" dirty="0"/>
              <a:t>function, use the global score</a:t>
            </a:r>
          </a:p>
          <a:p>
            <a:r>
              <a:rPr lang="en-CA" dirty="0"/>
              <a:t>In the ball-brick collision </a:t>
            </a:r>
            <a:r>
              <a:rPr lang="en-CA" i="1" dirty="0"/>
              <a:t>if-</a:t>
            </a:r>
            <a:r>
              <a:rPr lang="en-CA" dirty="0"/>
              <a:t>statement, increase the score by 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6E344E-4857-67E5-B285-A9778B60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22" y="1745829"/>
            <a:ext cx="3018850" cy="1270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E2B55D-5DE8-5C8F-9E35-001AE2310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642" y="3221646"/>
            <a:ext cx="3023491" cy="14228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AAAE53-EF5D-222E-B4AA-2C1B3B4E8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81" y="4975284"/>
            <a:ext cx="5887887" cy="158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05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BE0A-B638-79B3-D3A8-AEA86039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FF59-D74E-BEB4-853A-30D0F89CE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the Score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E56C3-0DF6-A93A-B57C-907B229FC0A6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979667" y="1628800"/>
            <a:ext cx="4611695" cy="4608512"/>
          </a:xfrm>
        </p:spPr>
        <p:txBody>
          <a:bodyPr>
            <a:normAutofit/>
          </a:bodyPr>
          <a:lstStyle/>
          <a:p>
            <a:r>
              <a:rPr lang="en-CA" dirty="0"/>
              <a:t>Our game increases the score, but how can we tell? We need to draw our score to the screen!</a:t>
            </a:r>
          </a:p>
          <a:p>
            <a:r>
              <a:rPr lang="en-CA" dirty="0"/>
              <a:t>Put this code under the background in the </a:t>
            </a:r>
            <a:r>
              <a:rPr lang="en-CA" i="1" dirty="0"/>
              <a:t>draw</a:t>
            </a:r>
            <a:r>
              <a:rPr lang="en-CA" dirty="0"/>
              <a:t>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01B0B-1A2A-82D5-A4FE-C8CB64C87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6" y="5441099"/>
            <a:ext cx="11589992" cy="8181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0270B-000B-1F41-2EC9-3A17F8A86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17" y="1628800"/>
            <a:ext cx="4611695" cy="336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7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080D-1FDD-978C-75FA-63B1CDF8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D604-649E-6343-71C7-3D4D6374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RESETTING the Bricks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3D9B-9C43-1E20-CF42-DD555BF07C9A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When we clear all of the bricks, we want to reset them so the player can keep playing!</a:t>
            </a:r>
          </a:p>
          <a:p>
            <a:r>
              <a:rPr lang="en-CA" dirty="0"/>
              <a:t>We can check if the player has cleared all the bricks by checking if the list of </a:t>
            </a:r>
            <a:r>
              <a:rPr lang="en-CA" i="1" dirty="0"/>
              <a:t>bricks</a:t>
            </a:r>
            <a:r>
              <a:rPr lang="en-CA" dirty="0"/>
              <a:t> is empty!</a:t>
            </a:r>
          </a:p>
          <a:p>
            <a:r>
              <a:rPr lang="en-CA" dirty="0"/>
              <a:t>In Python terms, this means that the </a:t>
            </a:r>
            <a:r>
              <a:rPr lang="en-CA" i="1" dirty="0"/>
              <a:t>length of the bricks list is 0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A4A72-C2CC-473D-9CF0-CD8543A5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00" y="1516293"/>
            <a:ext cx="4837512" cy="50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91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4A84-4C32-443E-DC8D-6701B33D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AB76F4-8905-5721-2A1C-5DD5D082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4" y="3081289"/>
            <a:ext cx="3605142" cy="2764335"/>
          </a:xfrm>
        </p:spPr>
        <p:txBody>
          <a:bodyPr>
            <a:normAutofit fontScale="90000"/>
          </a:bodyPr>
          <a:lstStyle/>
          <a:p>
            <a:r>
              <a:rPr lang="en-CA" dirty="0" err="1"/>
              <a:t>Hmmmm</a:t>
            </a:r>
            <a:r>
              <a:rPr lang="en-CA" dirty="0"/>
              <a:t>… doesn’t this code look familiar?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174763-E0B1-481F-DFB9-E5DC24B75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429" y="1012376"/>
            <a:ext cx="4837512" cy="50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44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B3A76-BC9F-E67A-D74D-870529F7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8EDE-B52A-36AC-E759-475BC879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sz="4400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Repeated Code – </a:t>
            </a:r>
            <a:r>
              <a:rPr lang="en-US" sz="4400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Functions</a:t>
            </a:r>
            <a:r>
              <a:rPr lang="en-US" sz="4400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– Part 1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124CA-EEDF-27A5-9DF9-1E089B4E7342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We’ve used this exact code before!</a:t>
            </a:r>
          </a:p>
          <a:p>
            <a:r>
              <a:rPr lang="en-CA" dirty="0"/>
              <a:t>To remove this repeated code, we can use something called a </a:t>
            </a:r>
            <a:r>
              <a:rPr lang="en-CA" b="1" dirty="0"/>
              <a:t>function</a:t>
            </a:r>
            <a:endParaRPr lang="en-CA" dirty="0"/>
          </a:p>
          <a:p>
            <a:r>
              <a:rPr lang="en-CA" dirty="0"/>
              <a:t>A </a:t>
            </a:r>
            <a:r>
              <a:rPr lang="en-CA" b="1" dirty="0"/>
              <a:t>function</a:t>
            </a:r>
            <a:r>
              <a:rPr lang="en-CA" dirty="0"/>
              <a:t> is a special section of code that we give a name to so that we can easily use that code anywhere else in our game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D42F4-3BED-4F28-85FF-CBAEE523C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52" y="1628800"/>
            <a:ext cx="3645721" cy="2731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2D5240-3211-B20B-2FE4-20AEA2D1E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67" y="4550694"/>
            <a:ext cx="4121145" cy="203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13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9C840-2598-D4B0-0481-442A1B2F2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EF3E-E169-B5DA-FDA7-072309FF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sz="4400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Repeated Code – </a:t>
            </a:r>
            <a:r>
              <a:rPr lang="en-US" sz="4400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Functions</a:t>
            </a:r>
            <a:r>
              <a:rPr lang="en-US" sz="4400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– Part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3F7A7-1C47-649F-1FCF-2ABAAC2E1946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799"/>
            <a:ext cx="5078677" cy="4954563"/>
          </a:xfrm>
        </p:spPr>
        <p:txBody>
          <a:bodyPr>
            <a:normAutofit/>
          </a:bodyPr>
          <a:lstStyle/>
          <a:p>
            <a:r>
              <a:rPr lang="en-CA" dirty="0"/>
              <a:t>To </a:t>
            </a:r>
            <a:r>
              <a:rPr lang="en-CA" i="1" dirty="0"/>
              <a:t>define</a:t>
            </a:r>
            <a:r>
              <a:rPr lang="en-CA" dirty="0"/>
              <a:t> a function, type </a:t>
            </a:r>
            <a:r>
              <a:rPr lang="en-CA" b="1" dirty="0"/>
              <a:t>def</a:t>
            </a:r>
            <a:r>
              <a:rPr lang="en-CA" dirty="0"/>
              <a:t>, give the function a name, then add your code</a:t>
            </a:r>
          </a:p>
          <a:p>
            <a:r>
              <a:rPr lang="en-CA" b="1" dirty="0"/>
              <a:t>REMEMBER!</a:t>
            </a:r>
            <a:r>
              <a:rPr lang="en-CA" dirty="0"/>
              <a:t> If you use any variables that you defined at the start of the game, you need to make them global!</a:t>
            </a:r>
            <a:endParaRPr lang="en-CA" b="1" dirty="0"/>
          </a:p>
          <a:p>
            <a:r>
              <a:rPr lang="en-CA" dirty="0"/>
              <a:t>To use this code, you need to </a:t>
            </a:r>
            <a:r>
              <a:rPr lang="en-CA" i="1" dirty="0"/>
              <a:t>call</a:t>
            </a:r>
            <a:r>
              <a:rPr lang="en-CA" dirty="0"/>
              <a:t> the function in the place you want to use it by typing the function’s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BFD775-A56A-C910-BF84-52E26A583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764146"/>
            <a:ext cx="3705367" cy="3329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AEBC7-5B6E-853A-C3D7-255F4CED5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322" y="5567243"/>
            <a:ext cx="2769363" cy="905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CC8F06-8B31-75D0-3A2E-062A09EAD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04" y="5743041"/>
            <a:ext cx="3411541" cy="69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14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00578-B035-47EE-5F44-6A54D908B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6C2A-018D-E312-71E8-FA538A2A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Tracking the Level and Lives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61D73-0809-DD2D-2284-A948367E0C44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12685" y="1628800"/>
            <a:ext cx="5078677" cy="4608512"/>
          </a:xfrm>
        </p:spPr>
        <p:txBody>
          <a:bodyPr>
            <a:normAutofit/>
          </a:bodyPr>
          <a:lstStyle/>
          <a:p>
            <a:r>
              <a:rPr lang="en-CA" dirty="0"/>
              <a:t>We can also add in variable that track the level we’re on and how many lives we have left</a:t>
            </a:r>
          </a:p>
          <a:p>
            <a:r>
              <a:rPr lang="en-CA" dirty="0"/>
              <a:t>Add new variables at the top of your code and make them global in the </a:t>
            </a:r>
            <a:r>
              <a:rPr lang="en-CA" i="1" dirty="0"/>
              <a:t>update</a:t>
            </a:r>
            <a:r>
              <a:rPr lang="en-CA" dirty="0"/>
              <a:t> function</a:t>
            </a:r>
          </a:p>
          <a:p>
            <a:r>
              <a:rPr lang="en-CA" dirty="0"/>
              <a:t>Lose a life when you miss the ball and increase your level when you clear all the bricks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4E4BA8-A401-3460-63C8-52A2FBEC4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015" y="1741639"/>
            <a:ext cx="2736304" cy="18242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CEB602-EB4C-63F9-9EE7-797B7455B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00" y="1741639"/>
            <a:ext cx="2736304" cy="18112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D0D9DF-4017-3955-9526-4B105E5BE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10" y="4003702"/>
            <a:ext cx="4641289" cy="12988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3CC617-C8AC-EC26-800A-6ACC0DD70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015" y="4912914"/>
            <a:ext cx="2942971" cy="14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11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CA29C-122D-B439-808C-8A843ED8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950B-C871-8B41-993B-383B1C53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the Level and Lives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B8CB-F4DA-C7CE-BCCB-4892B64E24D1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800"/>
            <a:ext cx="5064902" cy="4608512"/>
          </a:xfrm>
        </p:spPr>
        <p:txBody>
          <a:bodyPr>
            <a:normAutofit/>
          </a:bodyPr>
          <a:lstStyle/>
          <a:p>
            <a:r>
              <a:rPr lang="en-CA" dirty="0"/>
              <a:t>Don’t forget to draw them in the </a:t>
            </a:r>
            <a:r>
              <a:rPr lang="en-CA" i="1" dirty="0"/>
              <a:t>draw </a:t>
            </a:r>
            <a:r>
              <a:rPr lang="en-CA" dirty="0"/>
              <a:t>function!</a:t>
            </a:r>
          </a:p>
          <a:p>
            <a:r>
              <a:rPr lang="en-CA" dirty="0"/>
              <a:t>Put this in the same section where you draw the score to the screen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7C26FC-6418-BD23-04AA-A55B1BFC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93" y="1628800"/>
            <a:ext cx="4595219" cy="33335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CFD8E8-5FC4-2BB5-B64C-12B5204CA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21" y="5316504"/>
            <a:ext cx="10846941" cy="105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86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FD0A5-2595-C5BD-B35A-FE9E3001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3C650-C7D4-20FA-6257-EC2F512C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Running Out of Lives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C1856-EA4E-75DB-D6E6-B4D51C0CF1B6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800"/>
            <a:ext cx="5064902" cy="4608512"/>
          </a:xfrm>
        </p:spPr>
        <p:txBody>
          <a:bodyPr>
            <a:normAutofit/>
          </a:bodyPr>
          <a:lstStyle/>
          <a:p>
            <a:r>
              <a:rPr lang="en-CA" dirty="0"/>
              <a:t>When we have no more lives, the game should end!</a:t>
            </a:r>
          </a:p>
          <a:p>
            <a:r>
              <a:rPr lang="en-CA" dirty="0"/>
              <a:t>In the bottom of your </a:t>
            </a:r>
            <a:r>
              <a:rPr lang="en-CA" i="1" dirty="0"/>
              <a:t>draw</a:t>
            </a:r>
            <a:r>
              <a:rPr lang="en-CA" dirty="0"/>
              <a:t> function, create a new </a:t>
            </a:r>
            <a:r>
              <a:rPr lang="en-CA" i="1" dirty="0"/>
              <a:t>if</a:t>
            </a:r>
            <a:r>
              <a:rPr lang="en-CA" dirty="0"/>
              <a:t>-statement that checks if we have 0 lives</a:t>
            </a:r>
          </a:p>
          <a:p>
            <a:pPr lvl="1"/>
            <a:r>
              <a:rPr lang="en-CA" dirty="0"/>
              <a:t>If we are out of lives, draw “GAME OVER” text on the screen</a:t>
            </a:r>
          </a:p>
          <a:p>
            <a:pPr lvl="1"/>
            <a:r>
              <a:rPr lang="en-CA" dirty="0"/>
              <a:t>Under this, put an </a:t>
            </a:r>
            <a:r>
              <a:rPr lang="en-CA" i="1" dirty="0"/>
              <a:t>else</a:t>
            </a:r>
            <a:r>
              <a:rPr lang="en-CA" dirty="0"/>
              <a:t> statement and move the paddle, ball, and brick drawing code into it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4A164-48F2-61D5-43F0-70D3D579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3" y="2380264"/>
            <a:ext cx="551574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32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68A8F-1681-FEE2-F647-18027DBA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A2BD-98EA-96E5-413F-2B8C7BAB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Ending the Game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087E8-4047-0D1E-FB44-53D7922B3B7E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800"/>
            <a:ext cx="5064902" cy="4608512"/>
          </a:xfrm>
        </p:spPr>
        <p:txBody>
          <a:bodyPr>
            <a:normAutofit/>
          </a:bodyPr>
          <a:lstStyle/>
          <a:p>
            <a:r>
              <a:rPr lang="en-CA" dirty="0"/>
              <a:t>We also need to prevent the player from continuing to play</a:t>
            </a:r>
          </a:p>
          <a:p>
            <a:r>
              <a:rPr lang="en-CA" dirty="0"/>
              <a:t>In the </a:t>
            </a:r>
            <a:r>
              <a:rPr lang="en-CA" i="1" dirty="0" err="1"/>
              <a:t>reset_ball</a:t>
            </a:r>
            <a:r>
              <a:rPr lang="en-CA" dirty="0"/>
              <a:t> function, change the code so that you set </a:t>
            </a:r>
            <a:r>
              <a:rPr lang="en-CA" i="1" dirty="0" err="1"/>
              <a:t>ball_moving</a:t>
            </a:r>
            <a:r>
              <a:rPr lang="en-CA" dirty="0"/>
              <a:t> to False </a:t>
            </a:r>
            <a:r>
              <a:rPr lang="en-CA" b="1" i="1" dirty="0"/>
              <a:t>only</a:t>
            </a:r>
            <a:r>
              <a:rPr lang="en-CA" b="1" dirty="0"/>
              <a:t> </a:t>
            </a:r>
            <a:r>
              <a:rPr lang="en-CA" dirty="0"/>
              <a:t>if you do not have 0 lives</a:t>
            </a:r>
          </a:p>
          <a:p>
            <a:r>
              <a:rPr lang="en-CA" dirty="0"/>
              <a:t>Test out your game!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FFDE3-7D6E-33C5-89D1-506990612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49" y="1918237"/>
            <a:ext cx="4820323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49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F275-AB2E-F27D-06CE-B11FDA1B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9FA3-3D90-8B5C-4E07-DA57D179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Power-ups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14AE7-C896-EC7D-FB83-DD1D3CE1B2DF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800"/>
            <a:ext cx="5064902" cy="4608512"/>
          </a:xfrm>
        </p:spPr>
        <p:txBody>
          <a:bodyPr>
            <a:normAutofit/>
          </a:bodyPr>
          <a:lstStyle/>
          <a:p>
            <a:r>
              <a:rPr lang="en-CA" dirty="0"/>
              <a:t>Check out your Images folder for the power-ups we’ll use!</a:t>
            </a:r>
          </a:p>
          <a:p>
            <a:r>
              <a:rPr lang="en-CA" dirty="0"/>
              <a:t>You should notice 3 power-ups:</a:t>
            </a:r>
          </a:p>
          <a:p>
            <a:pPr lvl="1"/>
            <a:r>
              <a:rPr lang="en-CA" dirty="0" err="1"/>
              <a:t>extra_life</a:t>
            </a:r>
            <a:endParaRPr lang="en-CA" dirty="0"/>
          </a:p>
          <a:p>
            <a:pPr lvl="1"/>
            <a:r>
              <a:rPr lang="en-CA" dirty="0" err="1"/>
              <a:t>size_up</a:t>
            </a:r>
            <a:endParaRPr lang="en-CA" dirty="0"/>
          </a:p>
          <a:p>
            <a:pPr lvl="1"/>
            <a:r>
              <a:rPr lang="en-CA" dirty="0"/>
              <a:t>widen</a:t>
            </a:r>
          </a:p>
          <a:p>
            <a:r>
              <a:rPr lang="en-CA" dirty="0"/>
              <a:t>You should also notice:</a:t>
            </a:r>
          </a:p>
          <a:p>
            <a:pPr lvl="1"/>
            <a:r>
              <a:rPr lang="en-CA" dirty="0" err="1"/>
              <a:t>ball_big</a:t>
            </a:r>
            <a:endParaRPr lang="en-CA" dirty="0"/>
          </a:p>
          <a:p>
            <a:pPr lvl="1"/>
            <a:r>
              <a:rPr lang="en-CA" dirty="0" err="1"/>
              <a:t>paddle_big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571086-C8EE-B472-660D-F44FD9A00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223" y="4489377"/>
            <a:ext cx="695127" cy="695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84B463-DBF4-2C02-772A-313589D70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384" y="4669113"/>
            <a:ext cx="2517428" cy="335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2B2190-CA62-ACBC-D9DC-7F6CA4FB19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343" y="2721935"/>
            <a:ext cx="503485" cy="5034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8714D4-F1B5-9C23-716C-2C4719BC8C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320" y="2742246"/>
            <a:ext cx="503485" cy="503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20FC8A-69A8-2926-47B3-819C51B800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297" y="2721935"/>
            <a:ext cx="503485" cy="5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54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DB793-B990-0EE9-A664-C993C0C0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724D-F95E-4D20-EB7F-0A100F5D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sz="4400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The </a:t>
            </a:r>
            <a:r>
              <a:rPr lang="en-US" sz="4400" b="1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Random</a:t>
            </a:r>
            <a:r>
              <a:rPr lang="en-US" sz="4400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 Module</a:t>
            </a:r>
            <a:endParaRPr lang="en-CA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7580E-B491-B8B6-50C7-FF43EA69BFA5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800"/>
            <a:ext cx="5064902" cy="4608512"/>
          </a:xfrm>
        </p:spPr>
        <p:txBody>
          <a:bodyPr>
            <a:normAutofit/>
          </a:bodyPr>
          <a:lstStyle/>
          <a:p>
            <a:r>
              <a:rPr lang="en-CA" dirty="0"/>
              <a:t>With every brick you break, you will have a chance to spawn a power-up</a:t>
            </a:r>
          </a:p>
          <a:p>
            <a:r>
              <a:rPr lang="en-CA" dirty="0"/>
              <a:t>The power-up spawned will be </a:t>
            </a:r>
            <a:r>
              <a:rPr lang="en-CA" i="1" dirty="0"/>
              <a:t>randomly</a:t>
            </a:r>
            <a:r>
              <a:rPr lang="en-CA" dirty="0"/>
              <a:t> selected</a:t>
            </a:r>
          </a:p>
          <a:p>
            <a:r>
              <a:rPr lang="en-CA" dirty="0"/>
              <a:t>Both of these things can be done with the </a:t>
            </a:r>
            <a:r>
              <a:rPr lang="en-CA" b="1" i="1" dirty="0"/>
              <a:t>random</a:t>
            </a:r>
            <a:r>
              <a:rPr lang="en-CA" dirty="0"/>
              <a:t> module</a:t>
            </a:r>
          </a:p>
          <a:p>
            <a:r>
              <a:rPr lang="en-CA" dirty="0"/>
              <a:t>Before we can use the random module, we must </a:t>
            </a:r>
            <a:r>
              <a:rPr lang="en-CA" b="1" i="1" dirty="0"/>
              <a:t>import</a:t>
            </a:r>
            <a:r>
              <a:rPr lang="en-CA" dirty="0"/>
              <a:t> it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599BB9-DD60-D05E-7F98-116578201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38" y="2348880"/>
            <a:ext cx="503485" cy="5034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8CF592-4174-CE0D-4D4B-6B3F698C2A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315" y="2369191"/>
            <a:ext cx="503485" cy="503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90E1B8-F728-E58C-FC3B-7E5697989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92" y="2348880"/>
            <a:ext cx="503485" cy="503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350DB1-5625-040B-BF6D-D5ABFC7C0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713" y="4149080"/>
            <a:ext cx="4262688" cy="108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14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EAA06-D179-C85D-F398-FC6C0625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2C4F-5376-2B94-79F6-CB2BB81BF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Creating The Power-ups – Part 1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AED50-28F0-7B5A-DB4F-8BC8EDB0C307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799"/>
            <a:ext cx="5064902" cy="495456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With every brick we break, we have a chance of spawning a power up</a:t>
            </a:r>
          </a:p>
          <a:p>
            <a:r>
              <a:rPr lang="en-CA" dirty="0"/>
              <a:t>To do this, we’ll generate a random number using </a:t>
            </a:r>
            <a:r>
              <a:rPr lang="en-CA" dirty="0" err="1">
                <a:latin typeface="Consolas" panose="020B0609020204030204" pitchFamily="49" charset="0"/>
              </a:rPr>
              <a:t>random.randint</a:t>
            </a:r>
            <a:r>
              <a:rPr lang="en-CA" dirty="0">
                <a:latin typeface="Consolas" panose="020B0609020204030204" pitchFamily="49" charset="0"/>
              </a:rPr>
              <a:t>(a, b)</a:t>
            </a:r>
            <a:r>
              <a:rPr lang="en-CA" dirty="0">
                <a:latin typeface="+mj-lt"/>
              </a:rPr>
              <a:t> </a:t>
            </a:r>
            <a:r>
              <a:rPr lang="en-CA" dirty="0"/>
              <a:t>to simulate a “% chance”</a:t>
            </a:r>
          </a:p>
          <a:p>
            <a:r>
              <a:rPr lang="en-CA" dirty="0"/>
              <a:t>If the “% chance” is a success, we’ll spawn a power-up!</a:t>
            </a:r>
          </a:p>
          <a:p>
            <a:r>
              <a:rPr lang="en-CA" dirty="0"/>
              <a:t>This code will go in the ball-brick collision </a:t>
            </a:r>
            <a:r>
              <a:rPr lang="en-CA" i="1" dirty="0"/>
              <a:t>if</a:t>
            </a:r>
            <a:r>
              <a:rPr lang="en-CA" dirty="0"/>
              <a:t>-statement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28D88E-7426-7667-ED15-B0A06BAD5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72" y="3140968"/>
            <a:ext cx="5478344" cy="152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43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21CA-B474-DEE2-C4B1-16C5F655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6334-86BF-4FF7-745D-ED6EF20B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Creating The Power-ups – Part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2C9E3-4DA2-A7B9-DC81-AD90C1E9ED73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18883" y="1628800"/>
            <a:ext cx="10372479" cy="4608512"/>
          </a:xfrm>
        </p:spPr>
        <p:txBody>
          <a:bodyPr>
            <a:normAutofit/>
          </a:bodyPr>
          <a:lstStyle/>
          <a:p>
            <a:r>
              <a:rPr lang="en-CA" dirty="0"/>
              <a:t>The power-up that we spawn should be randomly chosen</a:t>
            </a:r>
          </a:p>
          <a:p>
            <a:r>
              <a:rPr lang="en-CA" dirty="0"/>
              <a:t>To do this, we’ll randomly select one of the power-up names from a list using </a:t>
            </a:r>
            <a:r>
              <a:rPr lang="en-CA" dirty="0" err="1">
                <a:latin typeface="Consolas" panose="020B0609020204030204" pitchFamily="49" charset="0"/>
              </a:rPr>
              <a:t>random.choice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r>
              <a:rPr lang="en-CA" dirty="0">
                <a:latin typeface="+mj-lt"/>
              </a:rPr>
              <a:t> </a:t>
            </a:r>
            <a:r>
              <a:rPr lang="en-CA" dirty="0"/>
              <a:t>to choose which power-up to spawn</a:t>
            </a:r>
          </a:p>
          <a:p>
            <a:r>
              <a:rPr lang="en-CA" dirty="0"/>
              <a:t>Remember to create an Actor for the power-up and set its position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B4515-2982-9603-7286-0681125C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595" y="4439899"/>
            <a:ext cx="8879633" cy="157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01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2A955-06AB-F976-9B18-1E6661EC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024B-E5F8-A97F-B311-EAB4EBC26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Drawing The Power-ups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B6CA-1978-AEAD-D978-F77AC8CE4B01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799"/>
            <a:ext cx="5064902" cy="4954563"/>
          </a:xfrm>
        </p:spPr>
        <p:txBody>
          <a:bodyPr>
            <a:normAutofit/>
          </a:bodyPr>
          <a:lstStyle/>
          <a:p>
            <a:r>
              <a:rPr lang="en-CA" dirty="0"/>
              <a:t>To draw the power-ups, we’ll do the same thing that we did for the bricks</a:t>
            </a:r>
          </a:p>
          <a:p>
            <a:r>
              <a:rPr lang="en-CA" dirty="0"/>
              <a:t>Add all the power-ups to a new list when we create them</a:t>
            </a:r>
          </a:p>
          <a:p>
            <a:r>
              <a:rPr lang="en-CA" dirty="0"/>
              <a:t>Use a </a:t>
            </a:r>
            <a:r>
              <a:rPr lang="en-CA" i="1" dirty="0"/>
              <a:t>for</a:t>
            </a:r>
            <a:r>
              <a:rPr lang="en-CA" dirty="0"/>
              <a:t>-loop to draw all the power-ups in the </a:t>
            </a:r>
            <a:r>
              <a:rPr lang="en-CA" i="1" dirty="0"/>
              <a:t>draw </a:t>
            </a:r>
            <a:r>
              <a:rPr lang="en-CA" dirty="0"/>
              <a:t>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80C09-9B06-F3AB-932B-BC3BAF531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64" y="1916832"/>
            <a:ext cx="3077004" cy="695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2A10B8-E632-49A1-4F7F-3DCE42A5B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924" y="3013708"/>
            <a:ext cx="4696480" cy="11050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061583-6328-84BB-870E-C8BE9BB6D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410" y="4520216"/>
            <a:ext cx="402011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96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857E-1286-2E2C-FB73-2DFAA468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54C1-5E00-1A5B-8D48-D5571711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Moving The Power-ups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97628-5F80-3F67-8B61-2AC7DB5BEF84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799"/>
            <a:ext cx="5064902" cy="4954563"/>
          </a:xfrm>
        </p:spPr>
        <p:txBody>
          <a:bodyPr>
            <a:normAutofit/>
          </a:bodyPr>
          <a:lstStyle/>
          <a:p>
            <a:r>
              <a:rPr lang="en-CA" dirty="0"/>
              <a:t>Just like we need to use a </a:t>
            </a:r>
            <a:r>
              <a:rPr lang="en-CA" i="1" dirty="0"/>
              <a:t>for</a:t>
            </a:r>
            <a:r>
              <a:rPr lang="en-CA" dirty="0"/>
              <a:t>-loop to draw all the power-ups, we need to use a </a:t>
            </a:r>
            <a:r>
              <a:rPr lang="en-CA" i="1" dirty="0"/>
              <a:t>for</a:t>
            </a:r>
            <a:r>
              <a:rPr lang="en-CA" dirty="0"/>
              <a:t>-loop to move all the power-ups</a:t>
            </a:r>
          </a:p>
          <a:p>
            <a:r>
              <a:rPr lang="en-CA" dirty="0"/>
              <a:t>In the </a:t>
            </a:r>
            <a:r>
              <a:rPr lang="en-CA" i="1" dirty="0"/>
              <a:t>update </a:t>
            </a:r>
            <a:r>
              <a:rPr lang="en-CA" dirty="0"/>
              <a:t>function, use a </a:t>
            </a:r>
            <a:r>
              <a:rPr lang="en-CA" i="1" dirty="0"/>
              <a:t>for</a:t>
            </a:r>
            <a:r>
              <a:rPr lang="en-CA" dirty="0"/>
              <a:t>-loop to move </a:t>
            </a:r>
            <a:r>
              <a:rPr lang="en-CA" b="1" dirty="0"/>
              <a:t>every power in the </a:t>
            </a:r>
            <a:r>
              <a:rPr lang="en-CA" b="1" i="1" dirty="0"/>
              <a:t>power-ups</a:t>
            </a:r>
            <a:r>
              <a:rPr lang="en-CA" b="1" dirty="0"/>
              <a:t> list</a:t>
            </a:r>
            <a:endParaRPr lang="en-CA" dirty="0"/>
          </a:p>
          <a:p>
            <a:r>
              <a:rPr lang="en-CA" dirty="0"/>
              <a:t>Also, add code to delete the power-up if it reaches the bottom of the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10436F-5AAD-1037-5328-BBB5C4116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2" y="3874019"/>
            <a:ext cx="3752131" cy="27091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63189-6BA5-EC87-13F4-196C003C0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09" y="1738439"/>
            <a:ext cx="5382376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1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8BF1-ADD7-0B26-8875-3D6D99D8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E413-5820-3E1F-6BC3-280A8E013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Collecting The Power-ups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EC182-B7B0-65FA-D15B-D711C58063D1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30861" y="1628799"/>
            <a:ext cx="10360501" cy="4954563"/>
          </a:xfrm>
        </p:spPr>
        <p:txBody>
          <a:bodyPr>
            <a:normAutofit/>
          </a:bodyPr>
          <a:lstStyle/>
          <a:p>
            <a:r>
              <a:rPr lang="en-CA" dirty="0"/>
              <a:t>We’ll use </a:t>
            </a:r>
            <a:r>
              <a:rPr lang="en-CA" dirty="0" err="1">
                <a:latin typeface="Consolas" panose="020B0609020204030204" pitchFamily="49" charset="0"/>
              </a:rPr>
              <a:t>paddle.collidelist</a:t>
            </a:r>
            <a:r>
              <a:rPr lang="en-CA" dirty="0">
                <a:latin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</a:rPr>
              <a:t>power_ups</a:t>
            </a:r>
            <a:r>
              <a:rPr lang="en-CA" dirty="0">
                <a:latin typeface="Consolas" panose="020B0609020204030204" pitchFamily="49" charset="0"/>
              </a:rPr>
              <a:t>)</a:t>
            </a:r>
            <a:r>
              <a:rPr lang="en-CA" dirty="0">
                <a:latin typeface="+mj-lt"/>
              </a:rPr>
              <a:t> to check if the paddle has overlapped with any power-ups the same way we checked if the ball overlapped any bricks</a:t>
            </a:r>
          </a:p>
          <a:p>
            <a:r>
              <a:rPr lang="en-CA" dirty="0">
                <a:latin typeface="+mj-lt"/>
              </a:rPr>
              <a:t>If the paddle did overlap a power-up, we need to check what image it is and give the player the appropriate power</a:t>
            </a:r>
          </a:p>
          <a:p>
            <a:pPr lvl="1"/>
            <a:r>
              <a:rPr lang="en-CA" dirty="0">
                <a:latin typeface="+mj-lt"/>
              </a:rPr>
              <a:t>If the power’s image is </a:t>
            </a:r>
            <a:r>
              <a:rPr lang="en-CA" dirty="0" err="1">
                <a:latin typeface="+mj-lt"/>
              </a:rPr>
              <a:t>extra_life</a:t>
            </a:r>
            <a:r>
              <a:rPr lang="en-CA" dirty="0">
                <a:latin typeface="+mj-lt"/>
              </a:rPr>
              <a:t>, increase the player’s lives by 1</a:t>
            </a:r>
          </a:p>
          <a:p>
            <a:pPr lvl="1"/>
            <a:r>
              <a:rPr lang="en-CA" dirty="0">
                <a:latin typeface="+mj-lt"/>
              </a:rPr>
              <a:t>If the power’s image is </a:t>
            </a:r>
            <a:r>
              <a:rPr lang="en-CA" dirty="0" err="1">
                <a:latin typeface="+mj-lt"/>
              </a:rPr>
              <a:t>size_up</a:t>
            </a:r>
            <a:r>
              <a:rPr lang="en-CA" dirty="0">
                <a:latin typeface="+mj-lt"/>
              </a:rPr>
              <a:t>, change the ball’s image to </a:t>
            </a:r>
            <a:r>
              <a:rPr lang="en-CA" dirty="0" err="1">
                <a:latin typeface="+mj-lt"/>
              </a:rPr>
              <a:t>ball_big</a:t>
            </a:r>
            <a:endParaRPr lang="en-CA" dirty="0">
              <a:latin typeface="+mj-lt"/>
            </a:endParaRPr>
          </a:p>
          <a:p>
            <a:pPr lvl="1"/>
            <a:r>
              <a:rPr lang="en-CA" dirty="0">
                <a:latin typeface="+mj-lt"/>
              </a:rPr>
              <a:t>If the power’s image is widen, change the paddle’s image to </a:t>
            </a:r>
            <a:r>
              <a:rPr lang="en-CA" dirty="0" err="1">
                <a:latin typeface="+mj-lt"/>
              </a:rPr>
              <a:t>paddle_big</a:t>
            </a:r>
            <a:endParaRPr lang="en-CA" dirty="0">
              <a:latin typeface="+mj-lt"/>
            </a:endParaRPr>
          </a:p>
          <a:p>
            <a:r>
              <a:rPr lang="en-CA" dirty="0"/>
              <a:t>After using the power-up, delete it from the </a:t>
            </a:r>
            <a:r>
              <a:rPr lang="en-CA" i="1" dirty="0" err="1"/>
              <a:t>power_ups</a:t>
            </a:r>
            <a:r>
              <a:rPr lang="en-CA" dirty="0"/>
              <a:t> list</a:t>
            </a:r>
            <a:endParaRPr lang="en-CA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23650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850F7-840B-B55B-0021-4F9B358A8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E4BC88-91E2-10C3-2614-D1268EB6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316" y="401813"/>
            <a:ext cx="6310192" cy="605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97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86330-2D00-053F-704A-8041C87C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F9B8-931C-83F2-24AA-2E648E8A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Ending The Power-ups – Part 1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665A-425E-2456-3DA1-E83A314C394A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30861" y="1628799"/>
            <a:ext cx="10360501" cy="4954563"/>
          </a:xfrm>
        </p:spPr>
        <p:txBody>
          <a:bodyPr>
            <a:normAutofit/>
          </a:bodyPr>
          <a:lstStyle/>
          <a:p>
            <a:r>
              <a:rPr lang="en-CA" dirty="0"/>
              <a:t>Right now, once we collect the power-ups that boost the size of the ball and paddle, they never return to their normal size!</a:t>
            </a:r>
          </a:p>
          <a:p>
            <a:r>
              <a:rPr lang="en-CA" dirty="0">
                <a:latin typeface="+mj-lt"/>
              </a:rPr>
              <a:t>For this, we can use </a:t>
            </a:r>
            <a:r>
              <a:rPr lang="en-CA" dirty="0" err="1">
                <a:latin typeface="+mj-lt"/>
              </a:rPr>
              <a:t>Pygame’s</a:t>
            </a:r>
            <a:r>
              <a:rPr lang="en-CA" dirty="0">
                <a:latin typeface="+mj-lt"/>
              </a:rPr>
              <a:t> </a:t>
            </a:r>
            <a:r>
              <a:rPr lang="en-CA" b="1" dirty="0">
                <a:latin typeface="+mj-lt"/>
              </a:rPr>
              <a:t>clock</a:t>
            </a:r>
            <a:r>
              <a:rPr lang="en-CA" dirty="0">
                <a:latin typeface="+mj-lt"/>
              </a:rPr>
              <a:t> to schedule a function call that will return the ball/paddle to their regular size</a:t>
            </a:r>
          </a:p>
          <a:p>
            <a:r>
              <a:rPr lang="en-CA" dirty="0">
                <a:latin typeface="+mj-lt"/>
              </a:rPr>
              <a:t>We’ll need one function that sets the ball back to its original image and one that sets the paddle back to its original image</a:t>
            </a:r>
          </a:p>
          <a:p>
            <a:r>
              <a:rPr lang="en-CA" dirty="0">
                <a:latin typeface="+mj-lt"/>
              </a:rPr>
              <a:t>Put these below your other defined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D71C1D-0163-C356-0D47-727CCC048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92" y="5445224"/>
            <a:ext cx="4039164" cy="771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2C1FFC-7E4E-E3BF-0A93-5BC396AAD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9" y="5445224"/>
            <a:ext cx="4696480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08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6A08E-65ED-A8CF-90E1-B280B129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8E8A-348D-D278-3099-EA19F6F0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Ending The Power-ups – Part 2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FE3B0-327B-C310-4BAD-DA60273E5665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30861" y="1628799"/>
            <a:ext cx="10360501" cy="4954563"/>
          </a:xfrm>
        </p:spPr>
        <p:txBody>
          <a:bodyPr>
            <a:normAutofit/>
          </a:bodyPr>
          <a:lstStyle/>
          <a:p>
            <a:r>
              <a:rPr lang="en-CA" dirty="0"/>
              <a:t>Now, in the power-up section, schedule a function call with the following code.</a:t>
            </a:r>
          </a:p>
          <a:p>
            <a:r>
              <a:rPr lang="en-CA" dirty="0">
                <a:latin typeface="+mj-lt"/>
              </a:rPr>
              <a:t>The first </a:t>
            </a:r>
            <a:r>
              <a:rPr lang="en-CA" b="1" dirty="0">
                <a:latin typeface="+mj-lt"/>
              </a:rPr>
              <a:t>argument</a:t>
            </a:r>
            <a:r>
              <a:rPr lang="en-CA" dirty="0">
                <a:latin typeface="+mj-lt"/>
              </a:rPr>
              <a:t> selects the function to call, and the second </a:t>
            </a:r>
            <a:r>
              <a:rPr lang="en-CA" b="1" dirty="0">
                <a:latin typeface="+mj-lt"/>
              </a:rPr>
              <a:t>argument </a:t>
            </a:r>
            <a:r>
              <a:rPr lang="en-CA" dirty="0">
                <a:latin typeface="+mj-lt"/>
              </a:rPr>
              <a:t>is the amount of time (in seconds) to wait until calling the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D9E95-82DC-8477-18F1-BABD64A7F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97" y="4057791"/>
            <a:ext cx="5998230" cy="252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21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BBC2-71F6-C664-93D7-0087EF75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EED8-8823-B45E-0BBC-C2E76161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209" y="-155258"/>
            <a:ext cx="10360501" cy="1223963"/>
          </a:xfrm>
        </p:spPr>
        <p:txBody>
          <a:bodyPr>
            <a:normAutofit/>
          </a:bodyPr>
          <a:lstStyle/>
          <a:p>
            <a:pPr marL="0" marR="0" lvl="0" indent="0" defTabSz="121898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lang="en-US" cap="all" spc="200" dirty="0">
                <a:solidFill>
                  <a:srgbClr val="009999"/>
                </a:solidFill>
                <a:latin typeface="Calibri"/>
                <a:ea typeface="+mn-ea"/>
                <a:cs typeface="+mn-cs"/>
              </a:rPr>
              <a:t>Some extra stuff!</a:t>
            </a:r>
            <a:endParaRPr lang="en-CA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27F3A-6765-50E4-9F75-C63EAD206E55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6526460" y="1628799"/>
            <a:ext cx="5064902" cy="49545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When we reset the ball, you should remove all active power-ups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Change your score increase so that you score more points in higher levels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Change the </a:t>
            </a:r>
            <a:r>
              <a:rPr lang="en-CA" i="1" dirty="0" err="1"/>
              <a:t>ball_vy</a:t>
            </a:r>
            <a:r>
              <a:rPr lang="en-CA" dirty="0"/>
              <a:t> speed so that the ball moves faster in higher levels</a:t>
            </a:r>
            <a:endParaRPr lang="en-CA" i="1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0BB08-2C93-075B-3330-ECD44019A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72" y="1262886"/>
            <a:ext cx="3168352" cy="2376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9BC526-9F25-B259-4234-8A23A9AF4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8" y="3811321"/>
            <a:ext cx="5196543" cy="1400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0BFD94-F360-3246-F95D-8C8FDFAFC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72" y="5383714"/>
            <a:ext cx="5196543" cy="120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41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2945</TotalTime>
  <Words>2687</Words>
  <Application>Microsoft Office PowerPoint</Application>
  <PresentationFormat>Custom</PresentationFormat>
  <Paragraphs>229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Consolas</vt:lpstr>
      <vt:lpstr>Tech 16x9</vt:lpstr>
      <vt:lpstr>Brick Breaker</vt:lpstr>
      <vt:lpstr>Hello, World!</vt:lpstr>
      <vt:lpstr>Pygame Basics</vt:lpstr>
      <vt:lpstr>Creating the Window With Variables</vt:lpstr>
      <vt:lpstr>Creating the Paddle</vt:lpstr>
      <vt:lpstr>Repositioning the Paddle</vt:lpstr>
      <vt:lpstr>Drawing the Paddle</vt:lpstr>
      <vt:lpstr>Booleans and If statements</vt:lpstr>
      <vt:lpstr>Moving the Paddle</vt:lpstr>
      <vt:lpstr>Woah! Our paddle is all over the screen! How can we fix that???</vt:lpstr>
      <vt:lpstr>Drawing a Background</vt:lpstr>
      <vt:lpstr>Drawing a Background</vt:lpstr>
      <vt:lpstr>Moving the Paddle – Part 2</vt:lpstr>
      <vt:lpstr>Drawing the Ball</vt:lpstr>
      <vt:lpstr>Moving the Ball – Part 1</vt:lpstr>
      <vt:lpstr>Moving the Ball – Part 2</vt:lpstr>
      <vt:lpstr>LAUNCHING the Ball – Part 1</vt:lpstr>
      <vt:lpstr>Oh no! Our code doesn’t work!</vt:lpstr>
      <vt:lpstr>LAUNCHING the Ball – Part 2</vt:lpstr>
      <vt:lpstr>Bouncing the Ball</vt:lpstr>
      <vt:lpstr>Hitting the Ball</vt:lpstr>
      <vt:lpstr>Hitting the Ball</vt:lpstr>
      <vt:lpstr>Resetting the Ball</vt:lpstr>
      <vt:lpstr>Creating the Bricks – For Loops</vt:lpstr>
      <vt:lpstr>PowerPoint Presentation</vt:lpstr>
      <vt:lpstr>Drawing the Bricks – Lists and For Loops</vt:lpstr>
      <vt:lpstr>Drawing the Bricks – Part 1</vt:lpstr>
      <vt:lpstr>Drawing the Bricks – Part 2</vt:lpstr>
      <vt:lpstr>Hitting the Bricks – CollideList</vt:lpstr>
      <vt:lpstr>Hitting the Bricks – PaRt 1</vt:lpstr>
      <vt:lpstr>Hitting the Bricks – PaRt 2</vt:lpstr>
      <vt:lpstr>Increasing the Score</vt:lpstr>
      <vt:lpstr>Drawing the Score</vt:lpstr>
      <vt:lpstr>RESETTING the Bricks</vt:lpstr>
      <vt:lpstr>Hmmmm… doesn’t this code look familiar?</vt:lpstr>
      <vt:lpstr>Repeated Code – Functions – Part 1</vt:lpstr>
      <vt:lpstr>Repeated Code – Functions – Part 2</vt:lpstr>
      <vt:lpstr>Tracking the Level and Lives</vt:lpstr>
      <vt:lpstr>Drawing the Level and Lives</vt:lpstr>
      <vt:lpstr>Running Out of Lives</vt:lpstr>
      <vt:lpstr>Ending the Game</vt:lpstr>
      <vt:lpstr>Power-ups</vt:lpstr>
      <vt:lpstr>The Random Module</vt:lpstr>
      <vt:lpstr>Creating The Power-ups – Part 1</vt:lpstr>
      <vt:lpstr>Creating The Power-ups – Part 2</vt:lpstr>
      <vt:lpstr>Drawing The Power-ups</vt:lpstr>
      <vt:lpstr>Moving The Power-ups</vt:lpstr>
      <vt:lpstr>Collecting The Power-ups</vt:lpstr>
      <vt:lpstr>PowerPoint Presentation</vt:lpstr>
      <vt:lpstr>Ending The Power-ups – Part 1</vt:lpstr>
      <vt:lpstr>Ending The Power-ups – Part 2</vt:lpstr>
      <vt:lpstr>Some extra stuff!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Tristin Schlauch</dc:creator>
  <cp:lastModifiedBy>Tristin Schlauch</cp:lastModifiedBy>
  <cp:revision>1</cp:revision>
  <dcterms:created xsi:type="dcterms:W3CDTF">2026-03-03T20:49:36Z</dcterms:created>
  <dcterms:modified xsi:type="dcterms:W3CDTF">2026-03-05T21:55:14Z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